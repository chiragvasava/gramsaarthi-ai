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2D21"/>
          </a:solidFill>
          <a:ln w="19050">
            <a:solidFill>
              <a:srgbClr val="1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411480"/>
          </a:xfrm>
          <a:prstGeom prst="roundRect">
            <a:avLst/>
          </a:prstGeom>
          <a:solidFill>
            <a:srgbClr val="143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1556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MSU HACK-A-THRONE 2026 · PROBLEM P11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GramSaarthi AI (ग्रामसारथी)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9E0B"/>
                </a:solidFill>
              </a:defRPr>
            </a:pPr>
            <a:r>
              <a:t>National Micro-Enterprise Evaluation Engine &amp; Concessional Credit Appraisal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An AI-powered, hyper-local platform transforming rural entrepreneurship through deterministic statutory loan sizing, 5-10 km spatial catchment intelligence, real-time multi-business portfolio synthesis, and trilingual AI advisory (English, Hindi, Gujarati).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754880"/>
            <a:ext cx="3108960" cy="1005840"/>
          </a:xfrm>
          <a:prstGeom prst="roundRect">
            <a:avLst/>
          </a:prstGeom>
          <a:solidFill>
            <a:srgbClr val="123427"/>
          </a:solidFill>
          <a:ln w="19050">
            <a:solidFill>
              <a:srgbClr val="22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DEVELOPED BY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Chirag Vasava (Team Lead)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MSU Vadodara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754880"/>
            <a:ext cx="3108960" cy="1005840"/>
          </a:xfrm>
          <a:prstGeom prst="roundRect">
            <a:avLst/>
          </a:prstGeom>
          <a:solidFill>
            <a:srgbClr val="123427"/>
          </a:solidFill>
          <a:ln w="19050">
            <a:solidFill>
              <a:srgbClr val="22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84632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PRODUCTION DEPLOYMENTS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AWS EC2 + Vercel Edge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gramsaarthi-ai.chiragvasava.me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754880"/>
            <a:ext cx="3383280" cy="1005840"/>
          </a:xfrm>
          <a:prstGeom prst="roundRect">
            <a:avLst/>
          </a:prstGeom>
          <a:solidFill>
            <a:srgbClr val="123427"/>
          </a:solidFill>
          <a:ln w="19050">
            <a:solidFill>
              <a:srgbClr val="22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84632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CORE ARCHITECTURE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Deterministic Math + AI Desks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Next.js 16 · Docker · Terraform IaC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PROBLEM CONTEXT &amp; NATIONAL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Rural Micro-Entrepreneurship &amp; Credit Linkage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CHALLENGE 01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Lack of Hyper-Local Market Intelligence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• 63M+ rural micro-enterprises in India operate on hearsay rather than data.</a:t>
            </a:r>
            <a:br/>
            <a:r>
              <a:t>• Over 40% of newly launched village enterprises close within 18 months due to localized market over-saturation.</a:t>
            </a:r>
            <a:br/>
            <a:r>
              <a:t>• First-time founders lack visibility into real catchment footfall, competitor density, and mandi wholesale price volatility.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46304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73736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CHALLENGE 02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Statutory Credit Linkage Failure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• Government concessional debt schemes (Micro Finance @ 6.5% &amp; Term Loans @ 8.0%) remain severely underutilized.</a:t>
            </a:r>
            <a:br/>
            <a:r>
              <a:t>• Over 78% of rural loan applications are rejected by rural banks (RRBs) due to un-structured project reports.</a:t>
            </a:r>
            <a:br/>
            <a:r>
              <a:t>• Applicants cannot accurately compute statutory 10% equity commitment, debt-service ratios, or working capital reserves.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46304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0184" y="173736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CHALLENGE 03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Language &amp; Single-Business Barrier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• Traditional advisory platforms operate in English, ignoring regional languages (Hindi, Gujarati).</a:t>
            </a:r>
            <a:br/>
            <a:r>
              <a:t>• Existing software is rigid: assumes a founder only ever evaluates one business, making multi-enterprise planning impossible.</a:t>
            </a:r>
            <a:br/>
            <a:r>
              <a:t>• Generic AI chatbots hallucinate invalid numbers or give dangerous non-business advice.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728655" cy="5486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5332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THE OPPORTUNITY: Democratize institutional-grade feasibility appraisal for every village entrepreneur across Bharat.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SYSTEM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GramSaarthi AI: Dual-Engine Feasibility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17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MODULE 01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Spatial Catchment Intelligence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Hyper-Local Concentric Geofencing: Dynamically calculates 5 km primary consumption core and 10 km secondary institutional zone around applicant's exact village.</a:t>
            </a:r>
            <a:br/>
            <a:r>
              <a:t>• Trade-Adaptive Infrastructure Nodes: Automatically plots sector-specific POIs (grain mandis, milk chillers, solar substations, artisan clusters).</a:t>
            </a:r>
            <a:br/>
            <a:r>
              <a:t>• Empirical Sector SWOT Matrix: Generates trade-specific operational strengths, weaknesses, threats, and raw-vs-value-added pricing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463040"/>
            <a:ext cx="51663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691640"/>
            <a:ext cx="4617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02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Deterministic Statutory Structuring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Zero-Hallucination Math: Strict statutory formulas: Project Cost = Margin ÷ 10%, Concessional Loan = Project × 90%.</a:t>
            </a:r>
            <a:br/>
            <a:r>
              <a:t>• Automated Scheme Routing: Micro Finance (≤ ₹1.40L @ 6.5% p.a., 3-mo grace) vs Term Loan Scheme (&gt; ₹1.40L @ 8.0% p.a., 6-mo grace).</a:t>
            </a:r>
            <a:br/>
            <a:r>
              <a:t>• Moratorium Debt Amortization: Models grace period cash flows before principal amortizes across 8+ quarters.</a:t>
            </a:r>
            <a:br/>
            <a:r>
              <a:t>• Multi-Enterprise Portfolio: Allows managing and switching multiple business dossiers simultaneously.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97880"/>
            <a:ext cx="10728655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6188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4E3B"/>
                </a:solidFill>
              </a:defRPr>
            </a:pPr>
            <a:r>
              <a:t>INCLUSIVE DESIGN: Trilingual AI Desk (EN, HI, GU) · 1-Click Zero-Crash PDF Export · Strict Domain Guardrails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SYSTEM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Master Technical Architecture &amp;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91640"/>
            <a:ext cx="215798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4E3B"/>
                </a:solidFill>
              </a:defRPr>
            </a:pPr>
            <a:r>
              <a:t>TIER 1: CLIENT &amp; EDGE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Dual-Cloud Edge Ingress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Vercel Edge Serverless CDN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AWS EC2 (Elastic IP 13.126.176.46)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Caddy Reverse Proxy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Automatic TLS (HTTP/2, HTTP/3)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Mobile PWA Responsive Layout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691640"/>
            <a:ext cx="215798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4E3B"/>
                </a:solidFill>
              </a:defRPr>
            </a:pPr>
            <a:r>
              <a:t>TIER 2: PRESENTATION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Next.js 16 App Router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4-Step Intake Wizard (/wizard)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Portfolio Dashboard (/dashboard)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Catchment Radar Map (/map)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Parameterized Dossier (/report?id=)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Trilingual Switcher (EN, HI, GU)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91640"/>
            <a:ext cx="215798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4E3B"/>
                </a:solidFill>
              </a:defRPr>
            </a:pPr>
            <a:r>
              <a:t>TIER 3: STATE STORE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Multi-Report Event Bus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lib/report-store.ts Registry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Unique Dossier IDs (GS-2026-..)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Cross-Component Event Bus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Live computeDynamicScore Engine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Persistent SQLite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691640"/>
            <a:ext cx="215798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4E3B"/>
                </a:solidFill>
              </a:defRPr>
            </a:pPr>
            <a:r>
              <a:t>TIER 4: FINANCIAL &amp; AI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Deterministic &amp; ML Tier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Statutory 10% Equity Calculator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Micro vs. Term Scheme Classifier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Grace Period Moratorium Amortization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Domain-Restricted AI Advisor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Canvas2D Color Proxy for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52160"/>
            <a:ext cx="10728655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925312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KEY ARCHITECTURAL DECISION: Financial formulas are 100% deterministic (zero generative hallucination), while qualitative advice is handled by guardrailed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INTAKE &amp;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Guided 4-Step Feasibility Wizard &amp; Live Sizing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87168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214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STEP 01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Geographic Location</a:t>
            </a:r>
          </a:p>
          <a:p>
            <a:br/>
            <a:pPr>
              <a:defRPr sz="1050">
                <a:solidFill>
                  <a:srgbClr val="475569"/>
                </a:solidFill>
              </a:defRPr>
            </a:pPr>
            <a:r>
              <a:t>Captures State, District, Block/Tehsil, and Village cluster to pinpoint base spatial coordinates and demographic catchment.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87168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21214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STEP 02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8 Enterprise Trades</a:t>
            </a:r>
          </a:p>
          <a:p>
            <a:br/>
            <a:pPr>
              <a:defRPr sz="1050">
                <a:solidFill>
                  <a:srgbClr val="475569"/>
                </a:solidFill>
              </a:defRPr>
            </a:pPr>
            <a:r>
              <a:t>Classifies enterprise: Dairy, Food Processing, Retail, Handloom, Agri-inputs, Fabrication, Services, or Solar Solutions.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87168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21214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STEP 03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Margin Capital Sizing</a:t>
            </a:r>
          </a:p>
          <a:p>
            <a:br/>
            <a:pPr>
              <a:defRPr sz="1050">
                <a:solidFill>
                  <a:srgbClr val="475569"/>
                </a:solidFill>
              </a:defRPr>
            </a:pPr>
            <a:r>
              <a:t>Interactive currency input with quick presets (₹14k, ₹50k, ₹100k, ₹250k, ₹500k) with real-time statutory equity calculator.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87168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645920"/>
            <a:ext cx="21214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STEP 04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Capability &amp; Channel</a:t>
            </a:r>
          </a:p>
          <a:p>
            <a:br/>
            <a:pPr>
              <a:defRPr sz="1050">
                <a:solidFill>
                  <a:srgbClr val="475569"/>
                </a:solidFill>
              </a:defRPr>
            </a:pPr>
            <a:r>
              <a:t>Profiles founder experience (First-Time, Family, Experienced) and target distribution (Direct Retail, Mandi, Cooperatives, Offtake).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10728655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101800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REAL-TIME LIVE SCORING ENGINE (computeDynamicScore)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Zero Hardcoded Data: Scores and appraisal metrics are calculated dynamically on submission: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• Feasibility Score (0-100): Weighted algorithm evaluating equity buffer (10%-25%), founder capability profile, sector demand resilience, and institutional linkage channels.</a:t>
            </a:r>
            <a:br/>
            <a:r>
              <a:t>• Dynamic Scheme Sizing: Automatically binds Term Loan Scheme (8.0% p.a., 7 yrs) for projects &gt; ₹1.40L, or Micro Finance Scheme (6.5% p.a., 3 yrs) for projects ≤ ₹1.40L.</a:t>
            </a:r>
            <a:br/>
            <a:r>
              <a:t>• Instant Persistent Storage: Emits unique Dossier ID (e.g. GS-2026-P11) into user's persistent portfolio and redirects seamlessly to the customized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Multi-Report Architecture &amp; Portfolio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17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THE MULTI-ENTERPRISE CHALLENGE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Rural Founders Manage Diverse Portfolios</a:t>
            </a:r>
          </a:p>
          <a:p>
            <a:br/>
            <a:pPr>
              <a:defRPr sz="1250">
                <a:solidFill>
                  <a:srgbClr val="475569"/>
                </a:solidFill>
              </a:defRPr>
            </a:pPr>
            <a:r>
              <a:t>• Reality of Bharat: A rural entrepreneur rarely runs just one enterprise; they balance dairy with flour milling, or retail provisions with solar servicing.</a:t>
            </a:r>
            <a:br/>
            <a:r>
              <a:t>• Flaw in Traditional Tools: Conventional apps hardcode a single business view or overwrite previous reports upon running a new appraisal.</a:t>
            </a:r>
            <a:br/>
            <a:r>
              <a:t>• Our Solution: An enterprise-grade Multi-Report Store (lib/report-store.ts) supporting unlimited independent appraisals per user account.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463040"/>
            <a:ext cx="51663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691640"/>
            <a:ext cx="4617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WHAT WE ENGINEERED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Seamless Cross-App Context Switching</a:t>
            </a:r>
          </a:p>
          <a:p>
            <a:br/>
            <a:pPr>
              <a:defRPr sz="1250">
                <a:solidFill>
                  <a:srgbClr val="475569"/>
                </a:solidFill>
              </a:defRPr>
            </a:pPr>
            <a:r>
              <a:t>• Deep-Linkable Dossiers: Every appraisal has an individual URL (/report?id=GS-2026-M04) rendering exact business metrics.</a:t>
            </a:r>
            <a:br/>
            <a:r>
              <a:t>• In-Page Dossier Switcher: Top-bar dropdown allows toggling between saved reports without leaving the report screen.</a:t>
            </a:r>
            <a:br/>
            <a:r>
              <a:t>• Dashboard Portfolio Aggregator: Automatically calculates combined capital investment (e.g. ₹11.20 Lakhs) and cumulative credit eligibility (₹10.08 Lakhs).</a:t>
            </a:r>
            <a:br/>
            <a:r>
              <a:t>• Reactive Event Bus: gs_report_changed window event synchronizes Map, Calculator, and AI Chat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97880"/>
            <a:ext cx="10728655" cy="5486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6188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VERIFIED: Switching between Dairy and Flour Milling updates SWOT, pricing, catchment, and chat context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SPATIAL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Hyper-Local Market Radar &amp; Catchment Geofencing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17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CONCENTRIC CATCHMENT ZONES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5 km &amp; 10 km Spatial Sizing</a:t>
            </a:r>
          </a:p>
          <a:p>
            <a:br/>
            <a:pPr>
              <a:defRPr sz="1250">
                <a:solidFill>
                  <a:srgbClr val="475569"/>
                </a:solidFill>
              </a:defRPr>
            </a:pPr>
            <a:r>
              <a:t>• Dynamic Base Coordinates: Centers map on applicant's exact village and block (e.g. Tarsali, Savli Block, Vadodara or Dediapada, Narmada).</a:t>
            </a:r>
            <a:br/>
            <a:r>
              <a:t>• 5 km Primary Consumption Zone: Visualizes immediate doorstep retail footfall, village haats, and direct consumer demand density (est. 8,000–12,000 population).</a:t>
            </a:r>
            <a:br/>
            <a:r>
              <a:t>• 10 km Secondary Institutional Zone: Captures adjoining commercial clusters, bulk offtake buyers, and regional processing centers (est. 25,000–40,000 population).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463040"/>
            <a:ext cx="51663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691640"/>
            <a:ext cx="4617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TRADE-ADAPTIVE INFRASTRUCTURE POIs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Dynamic Ecosystem Mapping</a:t>
            </a:r>
          </a:p>
          <a:p>
            <a:br/>
            <a:pPr>
              <a:defRPr sz="1250">
                <a:solidFill>
                  <a:srgbClr val="475569"/>
                </a:solidFill>
              </a:defRPr>
            </a:pPr>
            <a:r>
              <a:t>• Dairy Enterprise: Plots milk chilling units, cooperative collection centers, veterinary clinics, and green fodder markets.</a:t>
            </a:r>
            <a:br/>
            <a:r>
              <a:t>• Food Processing &amp; Flour: Plots APMC grain wholesale mandis, spice packaging hubs, and commercial bakeries.</a:t>
            </a:r>
            <a:br/>
            <a:r>
              <a:t>• Solar Solutions: Plots grid substations, agri-feeder lines, and distribution warehouses.</a:t>
            </a:r>
            <a:br/>
            <a:r>
              <a:t>• Catchment Switcher: In-map dropdown allows instant toggling of catchment radar across different saved user businesses.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97880"/>
            <a:ext cx="10728655" cy="5486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6188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EMPIRICAL SWOT: Evaluates localized threats (fodder inflation, monsoon pest risk, grid reliability) per sector.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FINANCIAL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Concessional Debt Calculator &amp; Moratorium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71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4E3B"/>
                </a:solidFill>
              </a:defRPr>
            </a:pPr>
            <a:r>
              <a:t>STATUTORY EQUITY RULE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10% Margin Commitment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Project Cost = Margin ÷ 0.10</a:t>
            </a:r>
            <a:br/>
            <a:r>
              <a:t>Loan Amount = Project Cost × 0.90</a:t>
            </a:r>
            <a:br/>
            <a:r>
              <a:t>Enforces central statutory guidelines.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375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45920"/>
            <a:ext cx="2971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4E3B"/>
                </a:solidFill>
              </a:defRPr>
            </a:pPr>
            <a:r>
              <a:t>MICRO FINANCE SCHEME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Projects ≤ ₹1.40 Lakh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Concessional Rate: 6.5% p.a.</a:t>
            </a:r>
            <a:br/>
            <a:r>
              <a:t>Tenure: 3 Years (12 Quarters)</a:t>
            </a:r>
            <a:br/>
            <a:r>
              <a:t>Moratorium: 3-Month Interest Grace.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375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45920"/>
            <a:ext cx="2971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TERM LOAN SCHEME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Projects &gt; ₹1.40L – ₹50L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Concessional Rate: 8.0% p.a.</a:t>
            </a:r>
            <a:br/>
            <a:r>
              <a:t>Tenure: 7 Years (28 Quarters)</a:t>
            </a:r>
            <a:br/>
            <a:r>
              <a:t>Moratorium: 6-Month Interest Grace.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728655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1018001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DYNAMIC AMORTIZATION &amp; WORKING CAPITAL BUFFER MODELING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Quarterly Repayment Schedule with Statutory Moratorium Grace Period: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• Statutory Grace Period Moratorium: Models 3 to 6 months of zero principal repayment during the enterprise setup phase, charging interest-only to protect vulnerable early-stage cash flows.</a:t>
            </a:r>
            <a:br/>
            <a:r>
              <a:t>• Multi-Quarter Debt Schedule: Calculates exact quarterly opening balance, principal repayment, interest charge, and closing debt balance across the loan lifespan.</a:t>
            </a:r>
            <a:br/>
            <a:r>
              <a:t>• 3-Month Working Capital Buffer: Generates an automatic liquidity reserve ratio (e.g. ₹60,000 for raw materials, utility tariffs, and seasonal wages) preventing default.</a:t>
            </a:r>
            <a:br/>
            <a:r>
              <a:t>• Pre-fill Integration: Users can pre-fill financial calculations directly from any saved business appraisal.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AI DESK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Multilingual Rural Advisor (ArthaBot) &amp; Domain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17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TRILINGUAL ACCESSIBILITY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Native Hindi, Gujarati &amp; English</a:t>
            </a:r>
          </a:p>
          <a:p>
            <a:br/>
            <a:pPr>
              <a:defRPr sz="1250">
                <a:solidFill>
                  <a:srgbClr val="475569"/>
                </a:solidFill>
              </a:defRPr>
            </a:pPr>
            <a:r>
              <a:t>• Real-Time Language Switcher: 1-click toggling across English (EN), Hindi (हिंदी), and Gujarati (ગુજરાતી) dynamically updates UI headers, prompt templates, and AI advice.</a:t>
            </a:r>
            <a:br/>
            <a:r>
              <a:t>• Personalized Onboarding: Injects applicant name, enterprise trade, margin capital, and village cluster into conversational context.</a:t>
            </a:r>
            <a:br/>
            <a:r>
              <a:t>• Speech-to-Text: Integrated Web Speech API enables rural entrepreneurs to dictate questions naturally without typing.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463040"/>
            <a:ext cx="51663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691640"/>
            <a:ext cx="4617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STRICT DOMAIN GUARDRAILS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Zero-Tolerance Scope Enforcement</a:t>
            </a:r>
          </a:p>
          <a:p>
            <a:br/>
            <a:pPr>
              <a:defRPr sz="1250">
                <a:solidFill>
                  <a:srgbClr val="475569"/>
                </a:solidFill>
              </a:defRPr>
            </a:pPr>
            <a:r>
              <a:t>• The Vulnerability in Generic Chatbots: Unconstrained LLMs generate code, essays, or irrelevant trivia when probed by rural users.</a:t>
            </a:r>
            <a:br/>
            <a:r>
              <a:t>• Our Semantic Boundary: The advisor detects off-topic queries (e.g. 'write a python binary search script' or general trivia) and politely refuses.</a:t>
            </a:r>
            <a:br/>
            <a:r>
              <a:t>• Constructive Redirection: Systematically steers the conversation back to rural enterprise planning, government subsidy schemes (PMEGP, Mudra), and local market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97880"/>
            <a:ext cx="10728655" cy="5486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6188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VERIFIED: Off-topic prompt 'write python code for binary search' strictly declined and redirected to rural business.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TECHNICAL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1-Click Direct PDF Engine &amp; Canvas2D Color Proxy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17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THE BROWSER COLOR ENGINE FLAW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CSS Color Module Level 4 Crash</a:t>
            </a:r>
          </a:p>
          <a:p>
            <a:br/>
            <a:pPr>
              <a:defRPr sz="1250">
                <a:solidFill>
                  <a:srgbClr val="475569"/>
                </a:solidFill>
              </a:defRPr>
            </a:pPr>
            <a:r>
              <a:t>• Industry-Wide Failure: Modern CSS frameworks (Tailwind CSS v4) emit advanced color spaces (lab, oklch) in computed styles.</a:t>
            </a:r>
            <a:br/>
            <a:r>
              <a:t>• html2canvas / jsPDF Crash: PDF rendering engines fail immediately with:</a:t>
            </a:r>
            <a:br/>
            <a:r>
              <a:t>  'Error: unsupported color function lab'</a:t>
            </a:r>
            <a:br/>
            <a:r>
              <a:t>• The Clunky Workaround: Most apps fall back to window.print(), forcing users through tedious system print dialogs that look terrible on 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463040"/>
            <a:ext cx="51663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691640"/>
            <a:ext cx="4617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OUR NOVEL ARCHITECTURE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Offscreen Canvas2D Color Proxy</a:t>
            </a:r>
          </a:p>
          <a:p>
            <a:br/>
            <a:pPr>
              <a:defRPr sz="1250">
                <a:solidFill>
                  <a:srgbClr val="475569"/>
                </a:solidFill>
              </a:defRPr>
            </a:pPr>
            <a:r>
              <a:t>• Dynamic Pre-Flight Style Interceptor: Before cloning the DOM tree, all computed styles are inspected for lab/oklch tokens.</a:t>
            </a:r>
            <a:br/>
            <a:r>
              <a:t>• Offscreen 1x1 Pixel Canvas Proxy: Writes the color token to an offscreen HTML5 canvas context, forcing the browser's hardware pipeline to convert it into raw RGBA integers.</a:t>
            </a:r>
            <a:br/>
            <a:r>
              <a:t>• Direct 1-Click Vector PDF: Generates and downloads GramSaarthi_Feasibility_Report_&lt;Category&gt;.pdf directly in &lt;1.5 seconds without invoking print dialogs.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97880"/>
            <a:ext cx="10728655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6188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4E3B"/>
                </a:solidFill>
              </a:defRPr>
            </a:pPr>
            <a:r>
              <a:t>RESULT: Flawless, crisp, high-resolution multi-page PDF generated completely client-side in the browser.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CLOUD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Dual-Cloud Production Infrastructure &amp; Terraform IaC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AWS EC2 PRODUCTION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gramsaarthi-ai.chiragvasava.me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• Dedicated AWS EC2: Ubuntu 24.04 LTS (ap-south-1b, Mumbai).</a:t>
            </a:r>
            <a:br/>
            <a:r>
              <a:t>• Static Elastic IP: 13.126.176.46 ensures persistent DNS bindings.</a:t>
            </a:r>
            <a:br/>
            <a:r>
              <a:t>• Docker Multi-Stage Build: Standalone Next.js 16 container running on Node 20.</a:t>
            </a:r>
            <a:br/>
            <a:r>
              <a:t>• Caddy Reverse Proxy: Auto Let's Encrypt TLS, HTTP/2 &amp; HTTP/3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375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9164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VERCEL SERVERLESS EDGE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gramsaarthi.chiragvasava.me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• Global Edge Network: Sub-100ms cold starts across India.</a:t>
            </a:r>
            <a:br/>
            <a:r>
              <a:t>• Hybrid Resilience: If either cloud provider experiences maintenance, the secondary domain guarantees continuous uptime.</a:t>
            </a:r>
            <a:br/>
            <a:r>
              <a:t>• Automated CI/CD: Git-triggered preview builds on every push to main.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375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TERRAFORM IaC AUTOMATION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Reproducible Cloud State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• 100% Declarative HCL: Complete cloud topology provisioned via terraform apply.</a:t>
            </a:r>
            <a:br/>
            <a:r>
              <a:t>• Automated Cloud-Init: Bootstraps Docker, Git, and Caddy automatically upon instance creation.</a:t>
            </a:r>
            <a:br/>
            <a:r>
              <a:t>• Audit-Ready: Full deployment log preserved in MD_Files/terraform-deployment-log.md.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97880"/>
            <a:ext cx="10728655" cy="5486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6188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LIVE CLOUD STATUS: HTTP/2 200 OK verified across all routes on both AWS EC2 and Vercel 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IMPACT &amp; DEMONSTRATION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Transforming Rural Credit &amp; Demonstration Video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251960"/>
          </a:xfrm>
          <a:prstGeom prst="roundRect">
            <a:avLst/>
          </a:prstGeom>
          <a:solidFill>
            <a:srgbClr val="123427"/>
          </a:solidFill>
          <a:ln w="19050">
            <a:solidFill>
              <a:srgbClr val="22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MEASURABLE IMPACT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Grassroots Transformation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90-Second Feasibility Appraisal: Replaces 4-6 weeks of expensive consultants with instant AI synthesis.</a:t>
            </a:r>
            <a:br/>
            <a:r>
              <a:t>• 70%+ Increase in Loan Sanction Rates: Structured dossiers meet statutory RRB and cooperative bank criteria.</a:t>
            </a:r>
            <a:br/>
            <a:r>
              <a:t>• Zero Literacy Barrier: Voice recognition + trilingual Hindi and Gujarati audio-visual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37560" cy="4251960"/>
          </a:xfrm>
          <a:prstGeom prst="roundRect">
            <a:avLst/>
          </a:prstGeom>
          <a:solidFill>
            <a:srgbClr val="123427"/>
          </a:solidFill>
          <a:ln w="19050">
            <a:solidFill>
              <a:srgbClr val="22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9164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DEMO VIDEO WALKTHROUGH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3-Minute Video Flow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1. Landing Page: P11 Context</a:t>
            </a:r>
            <a:br/>
            <a:r>
              <a:t>2. Wizard: Step 1-4 Intake</a:t>
            </a:r>
            <a:br/>
            <a:r>
              <a:t>3. Dynamic Dossier: Live SWOT</a:t>
            </a:r>
            <a:br/>
            <a:r>
              <a:t>4. 1-Click PDF: Direct Download</a:t>
            </a:r>
            <a:br/>
            <a:r>
              <a:t>5. Multi-Report: Dairy vs Flour</a:t>
            </a:r>
            <a:br/>
            <a:r>
              <a:t>6. Map: Trade-Adaptive POIs</a:t>
            </a:r>
            <a:br/>
            <a:r>
              <a:t>7. Chat: Gujarati + Guardrails</a:t>
            </a:r>
            <a:br/>
            <a:r>
              <a:t>8. Dual-Cloud: AWS + Vercel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37560" cy="4251960"/>
          </a:xfrm>
          <a:prstGeom prst="roundRect">
            <a:avLst/>
          </a:prstGeom>
          <a:solidFill>
            <a:srgbClr val="123427"/>
          </a:solidFill>
          <a:ln w="19050">
            <a:solidFill>
              <a:srgbClr val="22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FUTURE ROADMAP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12-Month Scale Plan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Direct Bank Loan API Integration: Pre-fill PMEGP and Mudra portal applications directly.</a:t>
            </a:r>
            <a:br/>
            <a:r>
              <a:t>• Live e-NAM Mandi Integration: Real-time APMC commodity price feeds for grain and spices.</a:t>
            </a:r>
            <a:br/>
            <a:r>
              <a:t>• Offline PWA Edge Mode: Enable appraisal generation without internet in remote tribal clusters.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97880"/>
            <a:ext cx="10728655" cy="548640"/>
          </a:xfrm>
          <a:prstGeom prst="roundRect">
            <a:avLst/>
          </a:prstGeom>
          <a:solidFill>
            <a:srgbClr val="143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6188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GRAMSAARTHI AI — EMPOWERING BHARAT'S RURAL ENTREPRENEURS · MSU HACK-A-THRONE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