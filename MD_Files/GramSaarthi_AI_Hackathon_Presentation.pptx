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Libre Franklin"/>
      <p:regular r:id="rId12"/>
      <p:bold r:id="rId13"/>
      <p:italic r:id="rId14"/>
      <p:boldItalic r:id="rId15"/>
    </p:embeddedFont>
    <p:embeddedFont>
      <p:font typeface="Franklin Gothic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j+EJjDZBmYfnlnrUWAXtI4j2w7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LibreFranklin-regular.fntdata"/><Relationship Id="rId13" Type="http://schemas.openxmlformats.org/officeDocument/2006/relationships/font" Target="fonts/LibreFranklin-bold.fntdata"/><Relationship Id="rId14" Type="http://schemas.openxmlformats.org/officeDocument/2006/relationships/font" Target="fonts/LibreFranklin-italic.fntdata"/><Relationship Id="rId15" Type="http://schemas.openxmlformats.org/officeDocument/2006/relationships/font" Target="fonts/LibreFranklin-boldItalic.fntdata"/><Relationship Id="rId16" Type="http://schemas.openxmlformats.org/officeDocument/2006/relationships/font" Target="fonts/FranklinGothic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" name="Google Shape;16;p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8" name="Google Shape;18;p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" name="Google Shape;5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4" name="Google Shape;5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8" name="Google Shape;5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1" name="Google Shape;6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2" name="Google Shape;6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d0257772_17_0)">
  <p:cSld name="Generated (g3fad0257772_17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-1" y="0"/>
            <a:ext cx="9144001" cy="127231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sx="92000" rotWithShape="0" algn="t" dir="5460000" dist="114300" sy="92000">
              <a:srgbClr val="000000">
                <a:alpha val="13725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 txBox="1"/>
          <p:nvPr/>
        </p:nvSpPr>
        <p:spPr>
          <a:xfrm>
            <a:off x="914400" y="1645920"/>
            <a:ext cx="73152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Problem Statement Number : </a:t>
            </a:r>
            <a:r>
              <a:rPr sz="1400" b="1">
                <a:solidFill>
                  <a:srgbClr val="059669"/>
                </a:solidFill>
                <a:latin typeface="Calibri"/>
              </a:rPr>
              <a:t>P11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Problem Statement Title : </a:t>
            </a:r>
            <a:r>
              <a:rPr sz="1400" b="0">
                <a:solidFill>
                  <a:srgbClr val="1E293B"/>
                </a:solidFill>
                <a:latin typeface="Calibri"/>
              </a:rPr>
              <a:t>AI-Driven Hyper-Local Business Advisory and Financial Structuring Assistant for Rural Micro-Entrepreneurs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Project Name : </a:t>
            </a:r>
            <a:r>
              <a:rPr sz="1400" b="1">
                <a:solidFill>
                  <a:srgbClr val="059669"/>
                </a:solidFill>
                <a:latin typeface="Calibri"/>
              </a:rPr>
              <a:t>GramSaarthi AI (ग्रामसारथी)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Team Name : 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E3A8A"/>
                </a:solidFill>
                <a:latin typeface="Calibri"/>
              </a:rPr>
              <a:t>Team Leader Name : </a:t>
            </a:r>
            <a:r>
              <a:rPr sz="1400" b="1">
                <a:solidFill>
                  <a:srgbClr val="059669"/>
                </a:solidFill>
                <a:latin typeface="Calibri"/>
              </a:rPr>
              <a:t>Chirag Vasava</a:t>
            </a:r>
          </a:p>
        </p:txBody>
      </p:sp>
      <p:sp>
        <p:nvSpPr>
          <p:cNvPr id="73" name="Google Shape;73;p1"/>
          <p:cNvSpPr txBox="1"/>
          <p:nvPr>
            <p:ph type="ctrTitle"/>
          </p:nvPr>
        </p:nvSpPr>
        <p:spPr>
          <a:xfrm>
            <a:off x="1326814" y="234130"/>
            <a:ext cx="6319462" cy="886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 sz="3000"/>
              <a:t>Basic Details of the Team and Problem Statement</a:t>
            </a:r>
            <a:endParaRPr sz="3000"/>
          </a:p>
        </p:txBody>
      </p:sp>
      <p:pic>
        <p:nvPicPr>
          <p:cNvPr id="74" name="Google Shape;7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6276" y="48938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/>
        </p:nvSpPr>
        <p:spPr>
          <a:xfrm>
            <a:off x="2398823" y="471112"/>
            <a:ext cx="4150823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 fontScale="7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Franklin Gothic"/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640080" y="1280160"/>
            <a:ext cx="3840480" cy="35661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E3A8A"/>
                </a:solidFill>
                <a:latin typeface="Calibri"/>
              </a:rPr>
              <a:t>Describe your Idea/Solution/Prototype here: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Core Problem Addressed: </a:t>
            </a:r>
            <a:r>
              <a:rPr sz="950" b="0">
                <a:solidFill>
                  <a:srgbClr val="475569"/>
                </a:solidFill>
                <a:latin typeface="Calibri"/>
              </a:rPr>
              <a:t>70M+ rural micro-entrepreneurs face a 40%+ failure rate due to informal hearsay business planning and underutilized concessional credit schemes.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GramSaarthi AI Solution: </a:t>
            </a:r>
            <a:r>
              <a:rPr sz="950" b="0">
                <a:solidFill>
                  <a:srgbClr val="475569"/>
                </a:solidFill>
                <a:latin typeface="Calibri"/>
              </a:rPr>
              <a:t>An intelligent trilingual rural advisory platform combining two decoupled micro-engines: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  1. Hyper-Local Feasibility Engine: </a:t>
            </a:r>
            <a:r>
              <a:rPr sz="950" b="0">
                <a:solidFill>
                  <a:srgbClr val="475569"/>
                </a:solidFill>
                <a:latin typeface="Calibri"/>
              </a:rPr>
              <a:t>Analyzes 5 km &amp; 10 km spatial catchment zones, demographic demand, competitor density, seasonal threats, and commodity pricing.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  2. Statutory Financial Structuring: </a:t>
            </a:r>
            <a:r>
              <a:rPr sz="950" b="0">
                <a:solidFill>
                  <a:srgbClr val="475569"/>
                </a:solidFill>
                <a:latin typeface="Calibri"/>
              </a:rPr>
              <a:t>Deterministic debt sizing (10% Margin, 90% Debt), automatic scheme routing (Micro Finance vs. Term Loan), and quarterly amortization.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Institutional Feasibility Dossier: </a:t>
            </a:r>
            <a:r>
              <a:rPr sz="950" b="0">
                <a:solidFill>
                  <a:srgbClr val="475569"/>
                </a:solidFill>
                <a:latin typeface="Calibri"/>
              </a:rPr>
              <a:t>Generates instant bank-grade loan appraisal dossiers exportable as PDF for formal credit underwriting.</a:t>
            </a:r>
          </a:p>
        </p:txBody>
      </p:sp>
      <p:sp>
        <p:nvSpPr>
          <p:cNvPr id="82" name="Google Shape;82;p2"/>
          <p:cNvSpPr txBox="1"/>
          <p:nvPr>
            <p:ph idx="12" type="sldNum"/>
          </p:nvPr>
        </p:nvSpPr>
        <p:spPr>
          <a:xfrm>
            <a:off x="728663" y="4861761"/>
            <a:ext cx="39243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/>
        </p:txBody>
      </p:sp>
      <p:sp>
        <p:nvSpPr>
          <p:cNvPr id="83" name="Google Shape;83;p2"/>
          <p:cNvSpPr txBox="1"/>
          <p:nvPr/>
        </p:nvSpPr>
        <p:spPr>
          <a:xfrm>
            <a:off x="4663440" y="1280160"/>
            <a:ext cx="3840480" cy="35661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E3A8A"/>
                </a:solidFill>
                <a:latin typeface="Calibri"/>
              </a:rPr>
              <a:t>Describe your Technology stack here: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Next.js 16 (React 19 App Router): </a:t>
            </a:r>
            <a:r>
              <a:rPr sz="950" b="0">
                <a:solidFill>
                  <a:srgbClr val="475569"/>
                </a:solidFill>
                <a:latin typeface="Calibri"/>
              </a:rPr>
              <a:t>Fast server-side rendering, modular client routing, and production build optimization.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TypeScript 5: </a:t>
            </a:r>
            <a:r>
              <a:rPr sz="950" b="0">
                <a:solidFill>
                  <a:srgbClr val="475569"/>
                </a:solidFill>
                <a:latin typeface="Calibri"/>
              </a:rPr>
              <a:t>Strict mathematical type-safety across financial formulas, eliminating floating-point errors.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Tailwind CSS 4: </a:t>
            </a:r>
            <a:r>
              <a:rPr sz="950" b="0">
                <a:solidFill>
                  <a:srgbClr val="475569"/>
                </a:solidFill>
                <a:latin typeface="Calibri"/>
              </a:rPr>
              <a:t>Modern utility-first styling with custom print stylesheets for institutional PDF export.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SQLite + Prisma ORM: </a:t>
            </a:r>
            <a:r>
              <a:rPr sz="950" b="0">
                <a:solidFill>
                  <a:srgbClr val="475569"/>
                </a:solidFill>
                <a:latin typeface="Calibri"/>
              </a:rPr>
              <a:t>Lightweight, portable relational persistence with zero external configuration required.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Leaflet.js Radar GIS: </a:t>
            </a:r>
            <a:r>
              <a:rPr sz="950" b="0">
                <a:solidFill>
                  <a:srgbClr val="475569"/>
                </a:solidFill>
                <a:latin typeface="Calibri"/>
              </a:rPr>
              <a:t>Interactive 5 km &amp; 10 km concentric catchment radius visualization.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Google Gemini 1.5 Flash + Fallback: </a:t>
            </a:r>
            <a:r>
              <a:rPr sz="950" b="0">
                <a:solidFill>
                  <a:srgbClr val="475569"/>
                </a:solidFill>
                <a:latin typeface="Calibri"/>
              </a:rPr>
              <a:t>Contextual qualitative advisory paired with a 100% reliable offline fallback engine.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Native Web Speech API: </a:t>
            </a:r>
            <a:r>
              <a:rPr sz="950" b="0">
                <a:solidFill>
                  <a:srgbClr val="475569"/>
                </a:solidFill>
                <a:latin typeface="Calibri"/>
              </a:rPr>
              <a:t>Voice-first rural accessibility supporting English, Hindi (HI), and Gujarati (GU).</a:t>
            </a:r>
          </a:p>
        </p:txBody>
      </p:sp>
      <p:sp>
        <p:nvSpPr>
          <p:cNvPr id="84" name="Google Shape;84;p2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/>
        </p:nvSpPr>
        <p:spPr>
          <a:xfrm>
            <a:off x="2404196" y="479881"/>
            <a:ext cx="4335607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anklin Gothic"/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 txBox="1"/>
          <p:nvPr/>
        </p:nvSpPr>
        <p:spPr>
          <a:xfrm>
            <a:off x="64008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Describe your Use Cases here</a:t>
            </a:r>
          </a:p>
        </p:txBody>
      </p:sp>
      <p:sp>
        <p:nvSpPr>
          <p:cNvPr id="94" name="Google Shape;94;p3"/>
          <p:cNvSpPr txBox="1"/>
          <p:nvPr/>
        </p:nvSpPr>
        <p:spPr>
          <a:xfrm>
            <a:off x="640080" y="1691640"/>
            <a:ext cx="3840480" cy="315468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Dairy / Livestock Setup (e.g. 5-Cow Dairy):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Founder inputs Rs 50,000 margin capital in 4-step wizard.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System sizes Rs 5,00,000 project &amp; Rs 4,50,000 debt under Term Loan Scheme (8.0% p.a., 7 yrs, 6-mo moratorium).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Spatial radar evaluates 5 km milk collection hubs, chilling centers, and veterinary clinics.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Rural Kirana / Agro-Retail Expansion: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Sizes Rs 1,40,000 project with Rs 14,000 margin under Micro Finance Scheme (6.5% p.a., 3 yrs, 3-mo moratorium).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Calculates 3-month working capital buffer for seasonal inventory.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Institutional Bank Appraisal Preparation: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Generates audit-ready Feasibility Dossier with SWOT matrix and quarterly repayment schedule for Bank/SCA submission.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Voice-First Trilingual Advisory for Bharat: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Rural founders ask questions via voice in Hindi or Gujarati and receive contextual guidance on loan repayments and risk mitigation.</a:t>
            </a:r>
          </a:p>
        </p:txBody>
      </p:sp>
      <p:sp>
        <p:nvSpPr>
          <p:cNvPr id="95" name="Google Shape;95;p3"/>
          <p:cNvSpPr txBox="1"/>
          <p:nvPr/>
        </p:nvSpPr>
        <p:spPr>
          <a:xfrm>
            <a:off x="466344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Describe your Dependencies</a:t>
            </a:r>
          </a:p>
        </p:txBody>
      </p:sp>
      <p:sp>
        <p:nvSpPr>
          <p:cNvPr id="96" name="Google Shape;96;p3"/>
          <p:cNvSpPr txBox="1"/>
          <p:nvPr/>
        </p:nvSpPr>
        <p:spPr>
          <a:xfrm>
            <a:off x="4663440" y="1691640"/>
            <a:ext cx="3840480" cy="315468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76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Core Software Frameworks: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Node.js 18+ runtime environment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Next.js 16.3 / React 19 web framework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Prisma 5.22 ORM with SQLite database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Tailwind CSS v4 &amp; Lucide React icons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External Services &amp; APIs: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Google Gemini API (Generative advisory &amp; SWOT)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OpenStreetMap / Carto CDN (Tile layer rendering)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Web Speech Synthesis &amp; Speech Recognition API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Hardware &amp; Deployment Architecture: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Runs locally on any standard PC, laptop, or mobile browser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Zero cloud setup: 100% portable SQLite database with pre-configured demo evaluator account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Offline resilience: Autonomous deterministic fallback ensures zero API quota lockouts during live presentations</a:t>
            </a:r>
          </a:p>
        </p:txBody>
      </p:sp>
      <p:sp>
        <p:nvSpPr>
          <p:cNvPr id="97" name="Google Shape;97;p3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Idea/Approach Details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64008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endParaRPr b="0"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Uniqueness of your Idea</a:t>
            </a:r>
          </a:p>
        </p:txBody>
      </p:sp>
      <p:sp>
        <p:nvSpPr>
          <p:cNvPr id="109" name="Google Shape;109;p4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TextBox 111"/>
          <p:cNvSpPr txBox="1"/>
          <p:nvPr/>
        </p:nvSpPr>
        <p:spPr>
          <a:xfrm>
            <a:off x="640080" y="1691640"/>
            <a:ext cx="38404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Decoupled Deterministic Financial Engine: </a:t>
            </a:r>
            <a:r>
              <a:rPr sz="950" b="0">
                <a:solidFill>
                  <a:srgbClr val="475569"/>
                </a:solidFill>
                <a:latin typeface="Calibri"/>
              </a:rPr>
              <a:t>Unlike naive LLM wrappers that hallucinate loan math, debt sizing, interest rates, and amortizations are computed by an exact deterministic TypeScript algorithm conforming to statutory guidelines.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Automated Statutory Scheme Routing: </a:t>
            </a:r>
            <a:r>
              <a:rPr sz="950" b="0">
                <a:solidFill>
                  <a:srgbClr val="475569"/>
                </a:solidFill>
                <a:latin typeface="Calibri"/>
              </a:rPr>
              <a:t>Intelligently routes projects &lt;= Rs 1.40L to Micro Finance (6.5%, 3-yr, 3-mo moratorium) and &gt; Rs 1.40L to Term Loan (8.0%, 7-yr, 6-mo moratorium) without manual loan officer intervention.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Hyper-Local Concentric Catchment (5 &amp; 10 km): </a:t>
            </a:r>
            <a:r>
              <a:rPr sz="950" b="0">
                <a:solidFill>
                  <a:srgbClr val="475569"/>
                </a:solidFill>
                <a:latin typeface="Calibri"/>
              </a:rPr>
              <a:t>Provides granular spatial demographic density, competitor proximity, and mandi linkage rather than generic national advice.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Trilingual Rural Accessibility: </a:t>
            </a:r>
            <a:r>
              <a:rPr sz="950" b="0">
                <a:solidFill>
                  <a:srgbClr val="475569"/>
                </a:solidFill>
                <a:latin typeface="Calibri"/>
              </a:rPr>
              <a:t>Voice input and localized UI in English, Hindi, and Gujarati overcomes rural literacy barriers.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Production-Ready &amp; Fully Functional: </a:t>
            </a:r>
            <a:r>
              <a:rPr sz="950" b="0">
                <a:solidFill>
                  <a:srgbClr val="475569"/>
                </a:solidFill>
                <a:latin typeface="Calibri"/>
              </a:rPr>
              <a:t>Not just mockups—a fully working web app with 10 active routes, SQLite database, and instant PDF dossier generation.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63440" y="1691640"/>
            <a:ext cx="38404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Measurable Socio-Economic Impact: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Reduces 40%+ early enterprise mortality by replacing hearsay with data-driven demand validation.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Unlocks statutory concessional debt for marginalized rural founders, replacing predatory moneylenders (36%+ p.a.) with 6.5%–8% subsidized credit.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Cuts bank appraisal preparation time from 3 weeks to under 3 minutes.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▶ Future Engineering Scope &amp; Roadmap: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SCA &amp; JanSamarth Portal API: Direct automated loan application dispatch to State Channelizing Agencies &amp; national banks.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Live Mandi &amp; APMC Feeds: Real-time price tracking via e-NAM APIs for hyper-local commodity arbitrage guidance.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Offline PWA &amp; Edge AI: Local on-device LLM execution (Gemma 2B / WebLLM) for zero-connectivity deep rural villages.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   • SHG &amp; Cooperative Multi-Tenant Mode: Sizing pooled capital for Self-Help Groups and Village Milk Societies.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Architecture Diagram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8" name="Google Shape;11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Picture 119" descr="architecture_diagram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234440"/>
            <a:ext cx="7955279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/>
          <p:cNvSpPr txBox="1"/>
          <p:nvPr>
            <p:ph type="title"/>
          </p:nvPr>
        </p:nvSpPr>
        <p:spPr>
          <a:xfrm>
            <a:off x="341371" y="215255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0000"/>
              <a:buNone/>
            </a:pPr>
            <a:endParaRPr sz="1800"/>
          </a:p>
          <a:p>
            <a:r>
              <a:rPr sz="2800" b="1">
                <a:solidFill>
                  <a:srgbClr val="0F172A"/>
                </a:solidFill>
                <a:latin typeface="Calibri"/>
              </a:rPr>
              <a:t>Additional Details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0080" y="128016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50" b="1">
                <a:solidFill>
                  <a:srgbClr val="1E3A8A"/>
                </a:solidFill>
                <a:latin typeface="Calibri"/>
              </a:rPr>
              <a:t>1. Live Prototype &amp; Verification Highlights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1-Click Demo Evaluation Mode: </a:t>
            </a:r>
            <a:r>
              <a:rPr sz="950" b="0">
                <a:solidFill>
                  <a:srgbClr val="475569"/>
                </a:solidFill>
                <a:latin typeface="Calibri"/>
              </a:rPr>
              <a:t>Pre-configured credentials (demo@gramsaarthi.ai / demo123) allow evaluators instant access to all reports without registration barriers.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Tested &amp; Working End-to-End: </a:t>
            </a:r>
            <a:r>
              <a:rPr sz="950" b="0">
                <a:solidFill>
                  <a:srgbClr val="475569"/>
                </a:solidFill>
                <a:latin typeface="Calibri"/>
              </a:rPr>
              <a:t>Every single user journey—Registration -&gt; Intake Wizard -&gt; Radial Map -&gt; Statutory Calculator -&gt; Trilingual Chat -&gt; Feasibility Dossier -&gt; PDF Export—has been tested and verified with active persistence.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Hybrid State Architecture: </a:t>
            </a:r>
            <a:r>
              <a:rPr sz="950" b="0">
                <a:solidFill>
                  <a:srgbClr val="475569"/>
                </a:solidFill>
                <a:latin typeface="Calibri"/>
              </a:rPr>
              <a:t>Bi-directional sync between browser LocalStorage and Prisma/SQLite database ensures complete data continuity across all route transitions.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Print-Optimized Dossier: </a:t>
            </a:r>
            <a:r>
              <a:rPr sz="950" b="0">
                <a:solidFill>
                  <a:srgbClr val="475569"/>
                </a:solidFill>
                <a:latin typeface="Calibri"/>
              </a:rPr>
              <a:t>Bank-ready Feasibility Report (/report) contains professional print stylesheets that render directly into an institutional PDF loan proposal.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63440" y="128016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50" b="1">
                <a:solidFill>
                  <a:srgbClr val="1E3A8A"/>
                </a:solidFill>
                <a:latin typeface="Calibri"/>
              </a:rPr>
              <a:t>2. Alignment with P11 Problem Statement &amp; Screening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Exact Problem Statement Alignment: </a:t>
            </a:r>
            <a:r>
              <a:rPr sz="950" b="0">
                <a:solidFill>
                  <a:srgbClr val="475569"/>
                </a:solidFill>
                <a:latin typeface="Calibri"/>
              </a:rPr>
              <a:t>Strict adherence to P11 rural micro-enterprise advisory guidelines, statutory debt limits, and local market validation.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Mathematical Auditability: </a:t>
            </a:r>
            <a:r>
              <a:rPr sz="950" b="0">
                <a:solidFill>
                  <a:srgbClr val="475569"/>
                </a:solidFill>
                <a:latin typeface="Calibri"/>
              </a:rPr>
              <a:t>Zero floating-point inaccuracies or LLM hallucinated debt figures; statutory equations are completely transparent and verifiable by bank managers.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Open Source &amp; Documented: </a:t>
            </a:r>
            <a:r>
              <a:rPr sz="950" b="0">
                <a:solidFill>
                  <a:srgbClr val="475569"/>
                </a:solidFill>
                <a:latin typeface="Calibri"/>
              </a:rPr>
              <a:t>Comprehensive documentation suite in MD_Files/ including ARCHITECTURE.md, FEATURES.md, DEMO_SCRIPT.md, MANUAL_TEST_REPORT.md, and TECH_STACK.md.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GitHub Repository: </a:t>
            </a:r>
            <a:r>
              <a:rPr sz="950" b="0">
                <a:solidFill>
                  <a:srgbClr val="475569"/>
                </a:solidFill>
                <a:latin typeface="Calibri"/>
              </a:rPr>
              <a:t>Publicly accessible codebase with commit history, detailed setup guide, and clean modular Next.js architecture.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• Demo Video Ready: </a:t>
            </a:r>
            <a:r>
              <a:rPr sz="950" b="0">
                <a:solidFill>
                  <a:srgbClr val="475569"/>
                </a:solidFill>
                <a:latin typeface="Calibri"/>
              </a:rPr>
              <a:t>Structured 3-minute demonstration script prepared covering problem explanation, live feature walkthrough, and social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