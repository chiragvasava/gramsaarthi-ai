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Libre Franklin"/>
      <p:regular r:id="rId12"/>
      <p:bold r:id="rId13"/>
      <p:italic r:id="rId14"/>
      <p:boldItalic r:id="rId15"/>
    </p:embeddedFont>
    <p:embeddedFont>
      <p:font typeface="Franklin Gothic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j+EJjDZBmYfnlnrUWAXtI4j2w7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LibreFranklin-regular.fntdata"/><Relationship Id="rId13" Type="http://schemas.openxmlformats.org/officeDocument/2006/relationships/font" Target="fonts/LibreFranklin-bold.fntdata"/><Relationship Id="rId14" Type="http://schemas.openxmlformats.org/officeDocument/2006/relationships/font" Target="fonts/LibreFranklin-italic.fntdata"/><Relationship Id="rId15" Type="http://schemas.openxmlformats.org/officeDocument/2006/relationships/font" Target="fonts/LibreFranklin-boldItalic.fntdata"/><Relationship Id="rId16" Type="http://schemas.openxmlformats.org/officeDocument/2006/relationships/font" Target="fonts/FranklinGothic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" name="Google Shape;16;p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8" name="Google Shape;18;p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" name="Google Shape;5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4" name="Google Shape;5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8" name="Google Shape;5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1" name="Google Shape;6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2" name="Google Shape;6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d0257772_17_0)">
  <p:cSld name="Generated (g3fad0257772_17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-1" y="0"/>
            <a:ext cx="9144001" cy="127231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sx="92000" rotWithShape="0" algn="t" dir="5460000" dist="114300" sy="92000">
              <a:srgbClr val="000000">
                <a:alpha val="13725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 txBox="1"/>
          <p:nvPr/>
        </p:nvSpPr>
        <p:spPr>
          <a:xfrm>
            <a:off x="914400" y="1600200"/>
            <a:ext cx="73152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64" lIns="73152" spcFirstLastPara="1" rIns="73152" wrap="square" tIns="54864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14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500" b="1">
                <a:solidFill>
                  <a:srgbClr val="064E3B"/>
                </a:solidFill>
                <a:latin typeface="Calibri"/>
              </a:rPr>
              <a:t>Problem Statement Number : </a:t>
            </a:r>
            <a:r>
              <a:rPr sz="1450" b="1">
                <a:solidFill>
                  <a:srgbClr val="0F172A"/>
                </a:solidFill>
                <a:latin typeface="Calibri"/>
              </a:rPr>
              <a:t>P11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Problem Statement Title: </a:t>
            </a:r>
            <a:r>
              <a:rPr sz="1450" b="0">
                <a:solidFill>
                  <a:srgbClr val="0F172A"/>
                </a:solidFill>
                <a:latin typeface="Calibri"/>
              </a:rPr>
              <a:t>AI-Driven Hyper-Local Business Advisory and Financial Structuring Assistant for Rural Micro-Entrepreneurs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Team Name: 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Team Leader Name: </a:t>
            </a:r>
            <a:r>
              <a:rPr sz="1450" b="1">
                <a:solidFill>
                  <a:srgbClr val="0F172A"/>
                </a:solidFill>
                <a:latin typeface="Calibri"/>
              </a:rPr>
              <a:t>Chirag Vasava</a:t>
            </a:r>
          </a:p>
        </p:txBody>
      </p:sp>
      <p:sp>
        <p:nvSpPr>
          <p:cNvPr id="73" name="Google Shape;73;p1"/>
          <p:cNvSpPr txBox="1"/>
          <p:nvPr>
            <p:ph type="ctrTitle"/>
          </p:nvPr>
        </p:nvSpPr>
        <p:spPr>
          <a:xfrm>
            <a:off x="1326814" y="234130"/>
            <a:ext cx="6319462" cy="886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 sz="3000"/>
              <a:t>Basic Details of the Team and Problem Statement</a:t>
            </a:r>
            <a:endParaRPr sz="3000"/>
          </a:p>
        </p:txBody>
      </p:sp>
      <p:pic>
        <p:nvPicPr>
          <p:cNvPr id="74" name="Google Shape;7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6276" y="48938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/>
        </p:nvSpPr>
        <p:spPr>
          <a:xfrm>
            <a:off x="2398823" y="471112"/>
            <a:ext cx="4150823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 fontScale="7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Franklin Gothic"/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594360" y="1188720"/>
            <a:ext cx="3977639" cy="370332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Idea/Solution/Prototype here: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The Rural Problem: </a:t>
            </a:r>
            <a:r>
              <a:rPr sz="1050" b="0">
                <a:solidFill>
                  <a:srgbClr val="1E293B"/>
                </a:solidFill>
                <a:latin typeface="Calibri"/>
              </a:rPr>
              <a:t>Over 63M micro-enterprises face 40%+ failure rates due to informal hearsay and 78% credit rejection by banks.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GramSaarthi AI Solution: </a:t>
            </a:r>
            <a:r>
              <a:rPr sz="1050" b="0">
                <a:solidFill>
                  <a:srgbClr val="1E293B"/>
                </a:solidFill>
                <a:latin typeface="Calibri"/>
              </a:rPr>
              <a:t>An institutional-grade rural advisory platform featuring two decoupled core engines: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19" b="1">
                <a:solidFill>
                  <a:srgbClr val="0F172A"/>
                </a:solidFill>
                <a:latin typeface="Calibri"/>
              </a:rPr>
              <a:t>    1. Spatial Feasibility: </a:t>
            </a:r>
            <a:r>
              <a:rPr sz="1019" b="0">
                <a:solidFill>
                  <a:srgbClr val="1E293B"/>
                </a:solidFill>
                <a:latin typeface="Calibri"/>
              </a:rPr>
              <a:t>Analyzes 5 km &amp; 10 km catchment demand, trade-adaptive POIs (mandis, chillers), and empirical SWOT.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19" b="1">
                <a:solidFill>
                  <a:srgbClr val="0F172A"/>
                </a:solidFill>
                <a:latin typeface="Calibri"/>
              </a:rPr>
              <a:t>    2. Statutory Debt Sizing: </a:t>
            </a:r>
            <a:r>
              <a:rPr sz="1019" b="0">
                <a:solidFill>
                  <a:srgbClr val="1E293B"/>
                </a:solidFill>
                <a:latin typeface="Calibri"/>
              </a:rPr>
              <a:t>Strict 10% equity commits, automated scheme qualification, and grace period amortization.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Multi-Enterprise Portfolio: </a:t>
            </a:r>
            <a:r>
              <a:rPr sz="1050" b="0">
                <a:solidFill>
                  <a:srgbClr val="1E293B"/>
                </a:solidFill>
                <a:latin typeface="Calibri"/>
              </a:rPr>
              <a:t>Evaluate and switch multiple businesses (Dairy, Food Processing, Retail) with live synchronized context.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Direct PDF Dossier: </a:t>
            </a:r>
            <a:r>
              <a:rPr sz="1050" b="0">
                <a:solidFill>
                  <a:srgbClr val="1E293B"/>
                </a:solidFill>
                <a:latin typeface="Calibri"/>
              </a:rPr>
              <a:t>Instant client-side download in &lt;2s with zero print dialogs via Canvas2D color proxy.</a:t>
            </a:r>
          </a:p>
        </p:txBody>
      </p:sp>
      <p:sp>
        <p:nvSpPr>
          <p:cNvPr id="82" name="Google Shape;82;p2"/>
          <p:cNvSpPr txBox="1"/>
          <p:nvPr>
            <p:ph idx="12" type="sldNum"/>
          </p:nvPr>
        </p:nvSpPr>
        <p:spPr>
          <a:xfrm>
            <a:off x="728663" y="4861761"/>
            <a:ext cx="39243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3" name="Google Shape;83;p2"/>
          <p:cNvSpPr txBox="1"/>
          <p:nvPr/>
        </p:nvSpPr>
        <p:spPr>
          <a:xfrm>
            <a:off x="4709160" y="1188720"/>
            <a:ext cx="3977639" cy="370332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Technology stack here: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Frontend / UX: </a:t>
            </a:r>
            <a:r>
              <a:rPr sz="1050" b="0">
                <a:solidFill>
                  <a:srgbClr val="1E293B"/>
                </a:solidFill>
                <a:latin typeface="Calibri"/>
              </a:rPr>
              <a:t>Next.js 16 (React 19 App Router) with TypeScript 5 &amp; Tailwind CSS.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Multi-Report Engine: </a:t>
            </a:r>
            <a:r>
              <a:rPr sz="1050" b="0">
                <a:solidFill>
                  <a:srgbClr val="1E293B"/>
                </a:solidFill>
                <a:latin typeface="Calibri"/>
              </a:rPr>
              <a:t>Custom reactive store (lib/report-store.ts) with SQLite / Prisma ORM persistence.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Deterministic Math: </a:t>
            </a:r>
            <a:r>
              <a:rPr sz="1050" b="0">
                <a:solidFill>
                  <a:srgbClr val="1E293B"/>
                </a:solidFill>
                <a:latin typeface="Calibri"/>
              </a:rPr>
              <a:t>Pure TypeScript statutory engine for debt sizing and moratorium schedules (zero hallucination).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AI &amp; Voice Desk: </a:t>
            </a:r>
            <a:r>
              <a:rPr sz="1050" b="0">
                <a:solidFill>
                  <a:srgbClr val="1E293B"/>
                </a:solidFill>
                <a:latin typeface="Calibri"/>
              </a:rPr>
              <a:t>Google Gemini API with strict domain guardrails, Web Speech API, trilingual (EN, HI, GU).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Vector PDF Engine: </a:t>
            </a:r>
            <a:r>
              <a:rPr sz="1050" b="0">
                <a:solidFill>
                  <a:srgbClr val="1E293B"/>
                </a:solidFill>
                <a:latin typeface="Calibri"/>
              </a:rPr>
              <a:t>jsPDF + html2canvas with offscreen Canvas2D RGBA color space proxy.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Production DevOps: </a:t>
            </a:r>
            <a:r>
              <a:rPr sz="1050" b="0">
                <a:solidFill>
                  <a:srgbClr val="1E293B"/>
                </a:solidFill>
                <a:latin typeface="Calibri"/>
              </a:rPr>
              <a:t>AWS EC2 containerized with Docker, Caddy reverse proxy (Auto-TLS), and Terraform IaC.</a:t>
            </a:r>
          </a:p>
        </p:txBody>
      </p:sp>
      <p:sp>
        <p:nvSpPr>
          <p:cNvPr id="84" name="Google Shape;84;p2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/>
        </p:nvSpPr>
        <p:spPr>
          <a:xfrm>
            <a:off x="2404196" y="479881"/>
            <a:ext cx="4335607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anklin Gothic"/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 txBox="1"/>
          <p:nvPr/>
        </p:nvSpPr>
        <p:spPr>
          <a:xfrm>
            <a:off x="5943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Use Cases here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594360" y="1554480"/>
            <a:ext cx="3977639" cy="33375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>
                <a:solidFill>
                  <a:srgbClr val="064E3B"/>
                </a:solidFill>
                <a:latin typeface="Calibri"/>
              </a:rPr>
              <a:t>▶ 1. Dairy Enterprise Appraisal (Savli, Vadodara):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₹1 Lakh margin sizes ₹10 Lakh project &amp; ₹9 Lakh loan under Term Loan Scheme (8.0% p.a., 7 yrs, 6-mo grace); maps 5 km milk chilling hubs.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2. Food Processing &amp; Flour Milling (Padra):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₹12,000 margin sizes ₹1.20 Lakh project &amp; ₹1.08 Lakh loan under Micro Finance Scheme (6.5% p.a., 3 yrs, 3-mo grace); models grain inventory buffer.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3. Multi-Enterprise Portfolio Management: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Entrepreneurs toggle between ventures; Dashboard aggregates combined investment (₹11.20L) and loan eligibility (₹10.08L).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4. Trilingual Voice Advisory for Bharat: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Voice Q&amp;A in Hindi &amp; Gujarati with strict guardrails rejecting off-topic coding/trivia queries.</a:t>
            </a:r>
          </a:p>
        </p:txBody>
      </p:sp>
      <p:sp>
        <p:nvSpPr>
          <p:cNvPr id="95" name="Google Shape;95;p3"/>
          <p:cNvSpPr txBox="1"/>
          <p:nvPr/>
        </p:nvSpPr>
        <p:spPr>
          <a:xfrm>
            <a:off x="47091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Dependencies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96" name="Google Shape;96;p3"/>
          <p:cNvSpPr txBox="1"/>
          <p:nvPr/>
        </p:nvSpPr>
        <p:spPr>
          <a:xfrm>
            <a:off x="4709160" y="1554480"/>
            <a:ext cx="3977639" cy="33375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76200" marR="0" rtl="0"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rPr sz="1100" b="1">
                <a:solidFill>
                  <a:srgbClr val="B45309"/>
                </a:solidFill>
                <a:latin typeface="Calibri"/>
              </a:rPr>
              <a:t>▶ Software Frameworks &amp; Libraries: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Node.js 20+, Next.js 16.3 / React 19, Prisma 5.22 with SQLite database, Tailwind CSS v4, Lucide React icons.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Cloud &amp; Web APIs: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Google Gemini API (qualitative advisory &amp; SWOT), Web Speech API (voice recognition), OpenStreetMap / Carto (catchment tile layers).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Cloud Infrastructure &amp; DevOps: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AWS EC2 Ubuntu 24.04 (t3.medium) with Docker containerization, Caddy Web Server (automated HTTPS / TLS), Terraform IaC automation.</a:t>
            </a:r>
          </a:p>
        </p:txBody>
      </p:sp>
      <p:sp>
        <p:nvSpPr>
          <p:cNvPr id="97" name="Google Shape;97;p3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Idea/Approach Details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5943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b" bIns="54864" lIns="73152" spcFirstLastPara="1" rIns="73152" wrap="square" tIns="54864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Uniqueness of your Idea</a:t>
            </a:r>
            <a:endParaRPr b="0"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08" name="Google Shape;108;p4"/>
          <p:cNvSpPr txBox="1"/>
          <p:nvPr>
            <p:ph idx="3" type="body"/>
          </p:nvPr>
        </p:nvSpPr>
        <p:spPr>
          <a:xfrm>
            <a:off x="47091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b" bIns="54864" lIns="73152" spcFirstLastPara="1" rIns="73152" wrap="square" tIns="54864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Future Scope and Impact</a:t>
            </a:r>
            <a:endParaRPr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TextBox 111"/>
          <p:cNvSpPr txBox="1"/>
          <p:nvPr/>
        </p:nvSpPr>
        <p:spPr>
          <a:xfrm>
            <a:off x="594360" y="1554480"/>
            <a:ext cx="3977639" cy="33375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Deterministic Financial Math: </a:t>
            </a:r>
            <a:r>
              <a:rPr sz="1019" b="0">
                <a:solidFill>
                  <a:srgbClr val="1E293B"/>
                </a:solidFill>
                <a:latin typeface="Calibri"/>
              </a:rPr>
              <a:t>Zero LLM hallucinations—debt sizing and moratoriums follow 100% statutory formulas.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Automated Scheme Routing: </a:t>
            </a:r>
            <a:r>
              <a:rPr sz="1019" b="0">
                <a:solidFill>
                  <a:srgbClr val="1E293B"/>
                </a:solidFill>
                <a:latin typeface="Calibri"/>
              </a:rPr>
              <a:t>Intelligently routes projects &lt;= ₹1.40L to Micro Finance (6.5%) and &gt; ₹1.40L to Term Loan (8.0%).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Hyper-Local 5 &amp; 10 km Catchment: </a:t>
            </a:r>
            <a:r>
              <a:rPr sz="1019" b="0">
                <a:solidFill>
                  <a:srgbClr val="1E293B"/>
                </a:solidFill>
                <a:latin typeface="Calibri"/>
              </a:rPr>
              <a:t>Granular spatial demographics, competitor density, and trade-adaptive POIs.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Multi-Enterprise Portfolio: </a:t>
            </a:r>
            <a:r>
              <a:rPr sz="1019" b="0">
                <a:solidFill>
                  <a:srgbClr val="1E293B"/>
                </a:solidFill>
                <a:latin typeface="Calibri"/>
              </a:rPr>
              <a:t>Solves real-world multi-business management with persistent Dossier IDs and reactive switching.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1-Click Zero-Crash PDF Export: </a:t>
            </a:r>
            <a:r>
              <a:rPr sz="1019" b="0">
                <a:solidFill>
                  <a:srgbClr val="1E293B"/>
                </a:solidFill>
                <a:latin typeface="Calibri"/>
              </a:rPr>
              <a:t>Canvas2D color proxy converts modern lab/oklch colors in &lt;1.5s with zero print dialogs.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Trilingual Guardrailed AI: </a:t>
            </a:r>
            <a:r>
              <a:rPr sz="1019" b="0">
                <a:solidFill>
                  <a:srgbClr val="1E293B"/>
                </a:solidFill>
                <a:latin typeface="Calibri"/>
              </a:rPr>
              <a:t>Native English, Hindi, and Gujarati with strict rejection of off-topic prompts.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09160" y="1554480"/>
            <a:ext cx="3977639" cy="33375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Measurable Socio-Economic Impact: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Reduces 40%+ early failure rate </a:t>
            </a:r>
            <a:r>
              <a:rPr sz="1019" b="0">
                <a:solidFill>
                  <a:srgbClr val="1E293B"/>
                </a:solidFill>
                <a:latin typeface="Calibri"/>
              </a:rPr>
              <a:t>through empirical local demand validation.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Cuts bank appraisal preparation time </a:t>
            </a:r>
            <a:r>
              <a:rPr sz="1019" b="0">
                <a:solidFill>
                  <a:srgbClr val="1E293B"/>
                </a:solidFill>
                <a:latin typeface="Calibri"/>
              </a:rPr>
              <a:t>from 4–6 weeks to under 90 seconds.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Unlocks statutory concessional debt, </a:t>
            </a:r>
            <a:r>
              <a:rPr sz="1019" b="0">
                <a:solidFill>
                  <a:srgbClr val="1E293B"/>
                </a:solidFill>
                <a:latin typeface="Calibri"/>
              </a:rPr>
              <a:t>replacing predatory moneylenders (24%–36% interest).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Future Roadmap &amp; Scaling: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Bank &amp; SCA Portals: </a:t>
            </a:r>
            <a:r>
              <a:rPr sz="1019" b="0">
                <a:solidFill>
                  <a:srgbClr val="1E293B"/>
                </a:solidFill>
                <a:latin typeface="Calibri"/>
              </a:rPr>
              <a:t>Direct API integration with JanSamarth and State Channelizing Agencies.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Live e-NAM Feeds: </a:t>
            </a:r>
            <a:r>
              <a:rPr sz="1019" b="0">
                <a:solidFill>
                  <a:srgbClr val="1E293B"/>
                </a:solidFill>
                <a:latin typeface="Calibri"/>
              </a:rPr>
              <a:t>Real-time APMC mandi commodity spot price tracking.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Offline Edge AI: </a:t>
            </a:r>
            <a:r>
              <a:rPr sz="1019" b="0">
                <a:solidFill>
                  <a:srgbClr val="1E293B"/>
                </a:solidFill>
                <a:latin typeface="Calibri"/>
              </a:rPr>
              <a:t>On-device localized inference for remote tribal clusters with zero internet.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Architecture Diagram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8" name="Google Shape;11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Picture 119" descr="architecture_diagram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234440"/>
            <a:ext cx="7955279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/>
          <p:cNvSpPr txBox="1"/>
          <p:nvPr>
            <p:ph type="title"/>
          </p:nvPr>
        </p:nvSpPr>
        <p:spPr>
          <a:xfrm>
            <a:off x="594360" y="411480"/>
            <a:ext cx="7955279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0000"/>
              <a:buNone/>
              <a:defRPr sz="2600" b="1">
                <a:solidFill>
                  <a:srgbClr val="0F172A"/>
                </a:solidFill>
                <a:latin typeface="Calibri"/>
              </a:defRPr>
            </a:pPr>
            <a:r>
              <a:t>Additional Details</a:t>
            </a:r>
            <a:endParaRPr sz="1800"/>
          </a:p>
        </p:txBody>
      </p:sp>
      <p:sp>
        <p:nvSpPr>
          <p:cNvPr id="127" name="TextBox 126"/>
          <p:cNvSpPr txBox="1"/>
          <p:nvPr/>
        </p:nvSpPr>
        <p:spPr>
          <a:xfrm>
            <a:off x="594360" y="1234440"/>
            <a:ext cx="3977639" cy="3657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64E3B"/>
                </a:solidFill>
                <a:latin typeface="Calibri"/>
              </a:rPr>
              <a:t>1. Live Prototype &amp; Verification Highlights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Demo Mode: </a:t>
            </a:r>
            <a:r>
              <a:rPr sz="1050" b="0">
                <a:solidFill>
                  <a:srgbClr val="1E293B"/>
                </a:solidFill>
                <a:latin typeface="Calibri"/>
              </a:rPr>
              <a:t>Pre-configured credentials (demo@gramsaarthi.ai / demo123) allow evaluators to test all features instantly without sign-up friction.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Tested &amp; Working End-to-End: </a:t>
            </a:r>
            <a:r>
              <a:rPr sz="1050" b="0">
                <a:solidFill>
                  <a:srgbClr val="1E293B"/>
                </a:solidFill>
                <a:latin typeface="Calibri"/>
              </a:rPr>
              <a:t>Every single user journey—Registration -&gt; Intake Wizard -&gt; Radial Map -&gt; Concessional Calculator -&gt; Trilingual Chat -&gt; Feasibility Report—empirically verified.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Zero Hardcoded Data: </a:t>
            </a:r>
            <a:r>
              <a:rPr sz="1050" b="0">
                <a:solidFill>
                  <a:srgbClr val="1E293B"/>
                </a:solidFill>
                <a:latin typeface="Calibri"/>
              </a:rPr>
              <a:t>Real-time dynamic scoring engine synthesizes all appraisal metrics on the fly based on user input.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Direct PDF: </a:t>
            </a:r>
            <a:r>
              <a:rPr sz="1050" b="0">
                <a:solidFill>
                  <a:srgbClr val="1E293B"/>
                </a:solidFill>
                <a:latin typeface="Calibri"/>
              </a:rPr>
              <a:t>Instant client-side download in &lt;1.5s via Canvas2D color proxy, eliminating browser print dialogs.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09160" y="1234440"/>
            <a:ext cx="3977639" cy="3657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64E3B"/>
                </a:solidFill>
                <a:latin typeface="Calibri"/>
              </a:rPr>
              <a:t>2. Alignment with Problem Statement P11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Strict Problem Statement Alignment: </a:t>
            </a:r>
            <a:r>
              <a:rPr sz="1050" b="0">
                <a:solidFill>
                  <a:srgbClr val="1E293B"/>
                </a:solidFill>
                <a:latin typeface="Calibri"/>
              </a:rPr>
              <a:t>Directly solves P11 requirements: hyper-local business feasibility, statutory financial structuring, rural language accessibility, and bankable reporting.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Mathematical Auditability: </a:t>
            </a:r>
            <a:r>
              <a:rPr sz="1050" b="0">
                <a:solidFill>
                  <a:srgbClr val="1E293B"/>
                </a:solidFill>
                <a:latin typeface="Calibri"/>
              </a:rPr>
              <a:t>Zero floating-point inaccuracies or hallucinated loan math; statutory credit guidelines strictly respected.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Complete Documentation Suite: </a:t>
            </a:r>
            <a:r>
              <a:rPr sz="1050" b="0">
                <a:solidFill>
                  <a:srgbClr val="1E293B"/>
                </a:solidFill>
                <a:latin typeface="Calibri"/>
              </a:rPr>
              <a:t>Comprehensive documentation indexed in MD_Files/ (ARCHITECTURE.md, FEATURES.md, MANUAL_TEST_REPORT.md, DEMO_SCRIPT.md, TERRAFORM.md).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Demonstration Video Ready: </a:t>
            </a:r>
            <a:r>
              <a:rPr sz="1050" b="0">
                <a:solidFill>
                  <a:srgbClr val="1E293B"/>
                </a:solidFill>
                <a:latin typeface="Calibri"/>
              </a:rPr>
              <a:t>Rehearsed 3-minute video recording script prepared in MD_Files/DEMO_SCRIPT.md covering the complete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