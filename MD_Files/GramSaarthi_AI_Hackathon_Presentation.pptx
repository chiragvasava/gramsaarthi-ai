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</p:sldIdLst>
  <p:sldSz cy="5143500" cx="9144000"/>
  <p:notesSz cx="6858000" cy="9144000"/>
  <p:embeddedFontLst>
    <p:embeddedFont>
      <p:font typeface="Libre Franklin"/>
      <p:regular r:id="rId12"/>
      <p:bold r:id="rId13"/>
      <p:italic r:id="rId14"/>
      <p:boldItalic r:id="rId15"/>
    </p:embeddedFont>
    <p:embeddedFont>
      <p:font typeface="Franklin Gothic"/>
      <p:bold r:id="rId1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  <p:ext uri="GoogleSlidesCustomDataVersion2">
      <go:slidesCustomData xmlns:go="http://customooxmlschemas.google.com/" r:id="rId17" roundtripDataSignature="AMtx7mj+EJjDZBmYfnlnrUWAXtI4j2w7F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font" Target="fonts/LibreFranklin-regular.fntdata"/><Relationship Id="rId13" Type="http://schemas.openxmlformats.org/officeDocument/2006/relationships/font" Target="fonts/LibreFranklin-bold.fntdata"/><Relationship Id="rId14" Type="http://schemas.openxmlformats.org/officeDocument/2006/relationships/font" Target="fonts/LibreFranklin-italic.fntdata"/><Relationship Id="rId15" Type="http://schemas.openxmlformats.org/officeDocument/2006/relationships/font" Target="fonts/LibreFranklin-boldItalic.fntdata"/><Relationship Id="rId16" Type="http://schemas.openxmlformats.org/officeDocument/2006/relationships/font" Target="fonts/FranklinGothic-bold.fntdata"/><Relationship Id="rId17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8" name="Google Shape;68;p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78" name="Google Shape;78;p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90" name="Google Shape;90;p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3" name="Google Shape;10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4" name="Google Shape;114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2" name="Google Shape;122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8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8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9"/>
          <p:cNvSpPr txBox="1"/>
          <p:nvPr>
            <p:ph type="title"/>
          </p:nvPr>
        </p:nvSpPr>
        <p:spPr>
          <a:xfrm>
            <a:off x="629841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5" name="Google Shape;15;p9"/>
          <p:cNvSpPr txBox="1"/>
          <p:nvPr>
            <p:ph idx="1" type="body"/>
          </p:nvPr>
        </p:nvSpPr>
        <p:spPr>
          <a:xfrm>
            <a:off x="629841" y="1260872"/>
            <a:ext cx="3868200" cy="6180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16" name="Google Shape;16;p9"/>
          <p:cNvSpPr txBox="1"/>
          <p:nvPr>
            <p:ph idx="2" type="body"/>
          </p:nvPr>
        </p:nvSpPr>
        <p:spPr>
          <a:xfrm>
            <a:off x="629841" y="1878806"/>
            <a:ext cx="3868200" cy="2763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7" name="Google Shape;17;p9"/>
          <p:cNvSpPr txBox="1"/>
          <p:nvPr>
            <p:ph idx="3" type="body"/>
          </p:nvPr>
        </p:nvSpPr>
        <p:spPr>
          <a:xfrm>
            <a:off x="4629150" y="1260872"/>
            <a:ext cx="3887400" cy="6180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18" name="Google Shape;18;p9"/>
          <p:cNvSpPr txBox="1"/>
          <p:nvPr>
            <p:ph idx="4" type="body"/>
          </p:nvPr>
        </p:nvSpPr>
        <p:spPr>
          <a:xfrm>
            <a:off x="4629150" y="1878806"/>
            <a:ext cx="3887400" cy="2763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9" name="Google Shape;19;p9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0" name="Google Shape;20;p9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1" name="Google Shape;21;p9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10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4" name="Google Shape;24;p10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5" name="Google Shape;25;p10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6" name="Google Shape;26;p10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7" name="Google Shape;27;p10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1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30" name="Google Shape;30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1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3" name="Google Shape;33;p12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34" name="Google Shape;34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7" name="Google Shape;37;p13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8" name="Google Shape;38;p13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9" name="Google Shape;39;p1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42" name="Google Shape;42;p1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5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45" name="Google Shape;45;p15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6" name="Google Shape;46;p1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6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49" name="Google Shape;49;p1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7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" name="Google Shape;52;p17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53" name="Google Shape;53;p17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54" name="Google Shape;54;p17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55" name="Google Shape;55;p1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8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58" name="Google Shape;58;p1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9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61" name="Google Shape;61;p19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62" name="Google Shape;62;p1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2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Generated (g3fad0257772_17_0)">
  <p:cSld name="Generated (g3fad0257772_17_0)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7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jpg"/><Relationship Id="rId4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jpg"/><Relationship Id="rId4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jpg"/><Relationship Id="rId4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jpg"/><Relationship Id="rId4" Type="http://schemas.openxmlformats.org/officeDocument/2006/relationships/image" Target="../media/image1.jpg"/><Relationship Id="rId5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jpg"/><Relationship Id="rId4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" name="Google Shape;71;p1"/>
          <p:cNvSpPr/>
          <p:nvPr/>
        </p:nvSpPr>
        <p:spPr>
          <a:xfrm>
            <a:off x="-1" y="0"/>
            <a:ext cx="9144001" cy="1272310"/>
          </a:xfrm>
          <a:prstGeom prst="rect">
            <a:avLst/>
          </a:prstGeom>
          <a:solidFill>
            <a:schemeClr val="lt1"/>
          </a:solidFill>
          <a:ln>
            <a:noFill/>
          </a:ln>
          <a:effectLst>
            <a:outerShdw blurRad="304800" sx="92000" rotWithShape="0" algn="t" dir="5460000" dist="114300" sy="92000">
              <a:srgbClr val="000000">
                <a:alpha val="13725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" name="Google Shape;72;p1"/>
          <p:cNvSpPr txBox="1"/>
          <p:nvPr/>
        </p:nvSpPr>
        <p:spPr>
          <a:xfrm>
            <a:off x="914400" y="1645920"/>
            <a:ext cx="7315200" cy="2926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None/>
            </a:pPr>
            <a:r>
              <a:rPr sz="1300" b="1">
                <a:solidFill>
                  <a:srgbClr val="064E3B"/>
                </a:solidFill>
                <a:latin typeface="Arial"/>
              </a:rPr>
              <a:t>Problem Statement Number : </a:t>
            </a:r>
            <a:r>
              <a:rPr sz="1200" b="1">
                <a:solidFill>
                  <a:srgbClr val="0F172A"/>
                </a:solidFill>
                <a:latin typeface="Arial"/>
              </a:rPr>
              <a:t>P11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r>
              <a:rPr sz="1300" b="1">
                <a:solidFill>
                  <a:srgbClr val="064E3B"/>
                </a:solidFill>
                <a:latin typeface="Arial"/>
              </a:rPr>
              <a:t>Problem Statement Title : </a:t>
            </a:r>
            <a:r>
              <a:rPr sz="1200" b="0">
                <a:solidFill>
                  <a:srgbClr val="0F172A"/>
                </a:solidFill>
                <a:latin typeface="Arial"/>
              </a:rPr>
              <a:t>AI-Driven Hyper-Local Business Advisory and Financial Structuring Assistant for Rural Micro-Entrepreneurs</a:t>
            </a:r>
          </a:p>
          <a:p>
            <a:r>
              <a:rPr sz="1300" b="1">
                <a:solidFill>
                  <a:srgbClr val="064E3B"/>
                </a:solidFill>
                <a:latin typeface="Arial"/>
              </a:rPr>
              <a:t>Project Name : </a:t>
            </a:r>
            <a:r>
              <a:rPr sz="1200" b="1">
                <a:solidFill>
                  <a:srgbClr val="0F172A"/>
                </a:solidFill>
                <a:latin typeface="Arial"/>
              </a:rPr>
              <a:t>GramSaarthi AI (ग्रामसारथी) — National Micro-Enterprise Evaluation Engine</a:t>
            </a:r>
          </a:p>
          <a:p>
            <a:r>
              <a:rPr sz="1300" b="1">
                <a:solidFill>
                  <a:srgbClr val="064E3B"/>
                </a:solidFill>
                <a:latin typeface="Arial"/>
              </a:rPr>
              <a:t>Team Leader Name : </a:t>
            </a:r>
            <a:r>
              <a:rPr sz="1200" b="1">
                <a:solidFill>
                  <a:srgbClr val="0F172A"/>
                </a:solidFill>
                <a:latin typeface="Arial"/>
              </a:rPr>
              <a:t>Chirag Vasava</a:t>
            </a:r>
          </a:p>
          <a:p>
            <a:r>
              <a:rPr sz="1300" b="1">
                <a:solidFill>
                  <a:srgbClr val="064E3B"/>
                </a:solidFill>
                <a:latin typeface="Arial"/>
              </a:rPr>
              <a:t>Live Cloud (AWS EC2) : </a:t>
            </a:r>
            <a:r>
              <a:rPr sz="1200" b="0">
                <a:solidFill>
                  <a:srgbClr val="1D4ED8"/>
                </a:solidFill>
                <a:latin typeface="Arial"/>
              </a:rPr>
              <a:t>https://gramsaarthi-ai.chiragvasava.me</a:t>
            </a:r>
          </a:p>
          <a:p>
            <a:r>
              <a:rPr sz="1300" b="1">
                <a:solidFill>
                  <a:srgbClr val="064E3B"/>
                </a:solidFill>
                <a:latin typeface="Arial"/>
              </a:rPr>
              <a:t>Live Edge (Vercel) : </a:t>
            </a:r>
            <a:r>
              <a:rPr sz="1200" b="0">
                <a:solidFill>
                  <a:srgbClr val="1D4ED8"/>
                </a:solidFill>
                <a:latin typeface="Arial"/>
              </a:rPr>
              <a:t>https://gramsaarthi.chiragvasava.me</a:t>
            </a:r>
          </a:p>
          <a:p>
            <a:r>
              <a:rPr sz="1300" b="1">
                <a:solidFill>
                  <a:srgbClr val="064E3B"/>
                </a:solidFill>
                <a:latin typeface="Arial"/>
              </a:rPr>
              <a:t>GitHub Repository : </a:t>
            </a:r>
            <a:r>
              <a:rPr sz="1200" b="0">
                <a:solidFill>
                  <a:srgbClr val="1D4ED8"/>
                </a:solidFill>
                <a:latin typeface="Arial"/>
              </a:rPr>
              <a:t>https://github.com/ChiragVasava/gramsaarthi-ai</a:t>
            </a:r>
          </a:p>
        </p:txBody>
      </p:sp>
      <p:sp>
        <p:nvSpPr>
          <p:cNvPr id="73" name="Google Shape;73;p1"/>
          <p:cNvSpPr txBox="1"/>
          <p:nvPr>
            <p:ph type="ctrTitle"/>
          </p:nvPr>
        </p:nvSpPr>
        <p:spPr>
          <a:xfrm>
            <a:off x="1326814" y="234130"/>
            <a:ext cx="6319462" cy="88681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 fontScale="90000"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r>
              <a:rPr b="1" lang="en-GB" sz="3000"/>
              <a:t>Basic Details of the Team and Problem Statement</a:t>
            </a:r>
            <a:endParaRPr sz="3000"/>
          </a:p>
        </p:txBody>
      </p:sp>
      <p:pic>
        <p:nvPicPr>
          <p:cNvPr id="74" name="Google Shape;74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46276" y="48938"/>
            <a:ext cx="1312470" cy="1174433"/>
          </a:xfrm>
          <a:prstGeom prst="rect">
            <a:avLst/>
          </a:prstGeom>
          <a:noFill/>
          <a:ln>
            <a:noFill/>
          </a:ln>
        </p:spPr>
      </p:pic>
      <p:pic>
        <p:nvPicPr>
          <p:cNvPr id="75" name="Google Shape;75;p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1065" y="111322"/>
            <a:ext cx="1224684" cy="104966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2"/>
          <p:cNvSpPr txBox="1"/>
          <p:nvPr/>
        </p:nvSpPr>
        <p:spPr>
          <a:xfrm>
            <a:off x="2398823" y="471112"/>
            <a:ext cx="4150823" cy="458147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 fontScale="75000" lnSpcReduction="20000"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Franklin Gothic"/>
              <a:buNone/>
            </a:pPr>
            <a:r>
              <a:rPr b="1" i="0" lang="en-GB" sz="4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Idea/Approach Details</a:t>
            </a:r>
            <a:endParaRPr b="1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" name="Google Shape;81;p2"/>
          <p:cNvSpPr txBox="1"/>
          <p:nvPr/>
        </p:nvSpPr>
        <p:spPr>
          <a:xfrm>
            <a:off x="640080" y="1280160"/>
            <a:ext cx="3840480" cy="3566160"/>
          </a:xfrm>
          <a:prstGeom prst="rect">
            <a:avLst/>
          </a:prstGeom>
          <a:noFill/>
          <a:ln cap="flat" cmpd="sng" w="9525">
            <a:noFill/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None/>
              <a:defRPr sz="1300" b="1">
                <a:solidFill>
                  <a:srgbClr val="064E3B"/>
                </a:solidFill>
                <a:latin typeface="Arial"/>
              </a:defRPr>
            </a:pPr>
            <a:r>
              <a:t>Describe your Idea/Solution/Prototype here: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>
              <a:defRPr sz="1019" b="0">
                <a:solidFill>
                  <a:srgbClr val="0F172A"/>
                </a:solidFill>
                <a:latin typeface="Arial"/>
              </a:defRPr>
            </a:pPr>
            <a:r>
              <a:t>• Core Problem Addressed: Over 63M rural micro-entrepreneurs face a 40%+ failure rate due to informal hearsay, zero local market data, and 78% rejection in statutory bank credit schemes.</a:t>
            </a:r>
          </a:p>
          <a:p>
            <a:pPr>
              <a:defRPr sz="1019" b="0">
                <a:solidFill>
                  <a:srgbClr val="0F172A"/>
                </a:solidFill>
                <a:latin typeface="Arial"/>
              </a:defRPr>
            </a:pPr>
            <a:r>
              <a:t>• GramSaarthi AI Solution: An intelligent trilingual rural advisory platform combining two decoupled core modules:</a:t>
            </a:r>
          </a:p>
          <a:p>
            <a:pPr>
              <a:defRPr sz="980" b="0">
                <a:solidFill>
                  <a:srgbClr val="0F172A"/>
                </a:solidFill>
                <a:latin typeface="Arial"/>
              </a:defRPr>
            </a:pPr>
            <a:r>
              <a:t>  1. Hyper-Local Feasibility Engine: Analyzes 5 km &amp; 10 km spatial catchment zones, demographic density, trade-adaptive POIs (mandis, chillers), and empirical SWOT matrices.</a:t>
            </a:r>
          </a:p>
          <a:p>
            <a:pPr>
              <a:defRPr sz="980" b="0">
                <a:solidFill>
                  <a:srgbClr val="0F172A"/>
                </a:solidFill>
                <a:latin typeface="Arial"/>
              </a:defRPr>
            </a:pPr>
            <a:r>
              <a:t>  2. Statutory Financial Structuring: Deterministic debt sizing (10% Margin, 90% Loan), automated scheme routing (Micro Finance @ 6.5% vs. Term Loan @ 8.0%), and moratorium debt amortization.</a:t>
            </a:r>
          </a:p>
          <a:p>
            <a:pPr>
              <a:defRPr sz="1019" b="0">
                <a:solidFill>
                  <a:srgbClr val="0F172A"/>
                </a:solidFill>
                <a:latin typeface="Arial"/>
              </a:defRPr>
            </a:pPr>
            <a:r>
              <a:t>• Multi-Enterprise Portfolio: Supports creating, comparing, and managing multiple business appraisals (e.g. Dairy + Flour Milling) with cross-app real-time synchronization.</a:t>
            </a:r>
          </a:p>
          <a:p>
            <a:pPr>
              <a:defRPr sz="1019" b="0">
                <a:solidFill>
                  <a:srgbClr val="0F172A"/>
                </a:solidFill>
                <a:latin typeface="Arial"/>
              </a:defRPr>
            </a:pPr>
            <a:r>
              <a:t>• 1-Click Direct PDF Engine: Client-side Canvas2D color proxy converts modern CSS color spaces (lab, oklch), generating bankable dossiers in &lt;1.5s with zero print dialogs.</a:t>
            </a:r>
          </a:p>
        </p:txBody>
      </p:sp>
      <p:sp>
        <p:nvSpPr>
          <p:cNvPr id="82" name="Google Shape;82;p2"/>
          <p:cNvSpPr txBox="1"/>
          <p:nvPr>
            <p:ph idx="12" type="sldNum"/>
          </p:nvPr>
        </p:nvSpPr>
        <p:spPr>
          <a:xfrm>
            <a:off x="728663" y="4861761"/>
            <a:ext cx="392430" cy="18573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/>
        </p:txBody>
      </p:sp>
      <p:sp>
        <p:nvSpPr>
          <p:cNvPr id="83" name="Google Shape;83;p2"/>
          <p:cNvSpPr txBox="1"/>
          <p:nvPr/>
        </p:nvSpPr>
        <p:spPr>
          <a:xfrm>
            <a:off x="4663440" y="1280160"/>
            <a:ext cx="3840480" cy="3566160"/>
          </a:xfrm>
          <a:prstGeom prst="rect">
            <a:avLst/>
          </a:prstGeom>
          <a:noFill/>
          <a:ln cap="flat" cmpd="sng" w="9525">
            <a:noFill/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None/>
              <a:defRPr sz="1300" b="1">
                <a:solidFill>
                  <a:srgbClr val="064E3B"/>
                </a:solidFill>
                <a:latin typeface="Arial"/>
              </a:defRPr>
            </a:pPr>
            <a:r>
              <a:t>Describe your Technology stack here:</a:t>
            </a:r>
            <a:endParaRPr b="0" i="0" sz="1500" u="none" cap="none" strike="noStrike">
              <a:solidFill>
                <a:schemeClr val="dk1"/>
              </a:solidFill>
              <a:latin typeface="Franklin Gothic"/>
              <a:ea typeface="Franklin Gothic"/>
              <a:cs typeface="Franklin Gothic"/>
              <a:sym typeface="Franklin Gothic"/>
            </a:endParaRPr>
          </a:p>
          <a:p>
            <a:pPr>
              <a:defRPr sz="1019" b="0">
                <a:solidFill>
                  <a:srgbClr val="0F172A"/>
                </a:solidFill>
                <a:latin typeface="Arial"/>
              </a:defRPr>
            </a:pPr>
            <a:r>
              <a:t>• Next.js 16 (React 19 App Router): Fast server-side rendering, modular client routing, and production build.</a:t>
            </a:r>
          </a:p>
          <a:p>
            <a:pPr>
              <a:defRPr sz="1019" b="0">
                <a:solidFill>
                  <a:srgbClr val="0F172A"/>
                </a:solidFill>
                <a:latin typeface="Arial"/>
              </a:defRPr>
            </a:pPr>
            <a:r>
              <a:t>• TypeScript 5: Strict mathematical type-safety across financial formulas, eliminating floating-point errors.</a:t>
            </a:r>
          </a:p>
          <a:p>
            <a:pPr>
              <a:defRPr sz="1019" b="0">
                <a:solidFill>
                  <a:srgbClr val="0F172A"/>
                </a:solidFill>
                <a:latin typeface="Arial"/>
              </a:defRPr>
            </a:pPr>
            <a:r>
              <a:t>• Multi-Report State Engine: lib/report-store.ts with custom gs_report_changed reactive event bus &amp; SQLite / Prisma ORM.</a:t>
            </a:r>
          </a:p>
          <a:p>
            <a:pPr>
              <a:defRPr sz="1019" b="0">
                <a:solidFill>
                  <a:srgbClr val="0F172A"/>
                </a:solidFill>
                <a:latin typeface="Arial"/>
              </a:defRPr>
            </a:pPr>
            <a:r>
              <a:t>• Dual-Cloud Production: AWS EC2 (Docker, Caddy Reverse Proxy, HTTP/2 &amp; Auto-TLS on 13.126.176.46) + Vercel Edge.</a:t>
            </a:r>
          </a:p>
          <a:p>
            <a:pPr>
              <a:defRPr sz="1019" b="0">
                <a:solidFill>
                  <a:srgbClr val="0F172A"/>
                </a:solidFill>
                <a:latin typeface="Arial"/>
              </a:defRPr>
            </a:pPr>
            <a:r>
              <a:t>• Infrastructure as Code: 100% declarative Terraform automation (terraform apply) for reproducible cloud provisioning.</a:t>
            </a:r>
          </a:p>
          <a:p>
            <a:pPr>
              <a:defRPr sz="1019" b="0">
                <a:solidFill>
                  <a:srgbClr val="0F172A"/>
                </a:solidFill>
                <a:latin typeface="Arial"/>
              </a:defRPr>
            </a:pPr>
            <a:r>
              <a:t>• AI &amp; Voice Accessibility: Google Gemini API with strict domain guardrails, Web Speech API, trilingual (EN, HI, GU).</a:t>
            </a:r>
          </a:p>
          <a:p>
            <a:pPr>
              <a:defRPr sz="1019" b="0">
                <a:solidFill>
                  <a:srgbClr val="0F172A"/>
                </a:solidFill>
                <a:latin typeface="Arial"/>
              </a:defRPr>
            </a:pPr>
            <a:r>
              <a:t>• Vector PDF Engine: jsPDF + html2canvas with offscreen Canvas2D RGBA color space proxy.</a:t>
            </a:r>
          </a:p>
        </p:txBody>
      </p:sp>
      <p:sp>
        <p:nvSpPr>
          <p:cNvPr id="84" name="Google Shape;84;p2"/>
          <p:cNvSpPr/>
          <p:nvPr/>
        </p:nvSpPr>
        <p:spPr>
          <a:xfrm>
            <a:off x="1458310" y="-144205"/>
            <a:ext cx="9144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2"/>
          <p:cNvSpPr/>
          <p:nvPr/>
        </p:nvSpPr>
        <p:spPr>
          <a:xfrm>
            <a:off x="1458310" y="198695"/>
            <a:ext cx="9144000" cy="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86" name="Google Shape;86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1065" y="111322"/>
            <a:ext cx="1224684" cy="1049666"/>
          </a:xfrm>
          <a:prstGeom prst="rect">
            <a:avLst/>
          </a:prstGeom>
          <a:noFill/>
          <a:ln>
            <a:noFill/>
          </a:ln>
        </p:spPr>
      </p:pic>
      <p:pic>
        <p:nvPicPr>
          <p:cNvPr id="87" name="Google Shape;87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90159" y="27245"/>
            <a:ext cx="1312470" cy="117443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3"/>
          <p:cNvSpPr txBox="1"/>
          <p:nvPr/>
        </p:nvSpPr>
        <p:spPr>
          <a:xfrm>
            <a:off x="2404196" y="479881"/>
            <a:ext cx="4335607" cy="458147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Franklin Gothic"/>
              <a:buNone/>
            </a:pPr>
            <a:r>
              <a:rPr b="1" i="0" lang="en-GB" sz="3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Idea/Approach Details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" name="Google Shape;93;p3"/>
          <p:cNvSpPr txBox="1"/>
          <p:nvPr/>
        </p:nvSpPr>
        <p:spPr>
          <a:xfrm>
            <a:off x="640080" y="1280160"/>
            <a:ext cx="38404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177800" lvl="0" marL="17780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None/>
            </a:pP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r>
              <a:rPr sz="1250" b="1">
                <a:solidFill>
                  <a:srgbClr val="1E3A8A"/>
                </a:solidFill>
                <a:latin typeface="Calibri"/>
              </a:rPr>
              <a:t>Describe your Use Cases here</a:t>
            </a:r>
          </a:p>
        </p:txBody>
      </p:sp>
      <p:sp>
        <p:nvSpPr>
          <p:cNvPr id="94" name="Google Shape;94;p3"/>
          <p:cNvSpPr txBox="1"/>
          <p:nvPr/>
        </p:nvSpPr>
        <p:spPr>
          <a:xfrm>
            <a:off x="640080" y="1691640"/>
            <a:ext cx="3840480" cy="3154680"/>
          </a:xfrm>
          <a:prstGeom prst="rect">
            <a:avLst/>
          </a:prstGeom>
          <a:noFill/>
          <a:ln cap="flat" cmpd="sng" w="9525">
            <a:noFill/>
            <a:prstDash val="solid"/>
            <a:round/>
            <a:headEnd len="sm" w="sm" type="none"/>
            <a:tailEnd len="sm" w="sm" type="none"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50" b="1">
                <a:solidFill>
                  <a:srgbClr val="064E3B"/>
                </a:solidFill>
                <a:latin typeface="Arial"/>
              </a:defRPr>
            </a:pPr>
            <a:r>
              <a:t>▶ Dairy / Livestock Enterprise (Savli, Vadodara):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>
              <a:defRPr sz="980" b="0">
                <a:solidFill>
                  <a:srgbClr val="0F172A"/>
                </a:solidFill>
                <a:latin typeface="Arial"/>
              </a:defRPr>
            </a:pPr>
            <a:r>
              <a:t>• Margin: ₹1,00,000 sizes ₹10,00,000 project &amp; ₹9,00,000 loan under Term Loan Scheme (8.0% p.a., 7 yrs, 6-mo grace).</a:t>
            </a:r>
          </a:p>
          <a:p>
            <a:pPr>
              <a:defRPr sz="980" b="0">
                <a:solidFill>
                  <a:srgbClr val="0F172A"/>
                </a:solidFill>
                <a:latin typeface="Arial"/>
              </a:defRPr>
            </a:pPr>
            <a:r>
              <a:t>• Spatial radar evaluates 5 km milk chilling hubs, cooperatives, and veterinary clinics.</a:t>
            </a:r>
          </a:p>
          <a:p>
            <a:pPr>
              <a:defRPr sz="1050" b="1">
                <a:solidFill>
                  <a:srgbClr val="064E3B"/>
                </a:solidFill>
                <a:latin typeface="Arial"/>
              </a:defRPr>
            </a:pPr>
            <a:r>
              <a:t>▶ Food Processing &amp; Flour Milling (Padra, Vadodara):</a:t>
            </a:r>
          </a:p>
          <a:p>
            <a:pPr>
              <a:defRPr sz="980" b="0">
                <a:solidFill>
                  <a:srgbClr val="0F172A"/>
                </a:solidFill>
                <a:latin typeface="Arial"/>
              </a:defRPr>
            </a:pPr>
            <a:r>
              <a:t>• Sizes ₹1,20,000 project with ₹12,000 margin under Micro Finance Scheme (6.5% p.a., 3 yrs, 3-mo grace).</a:t>
            </a:r>
          </a:p>
          <a:p>
            <a:pPr>
              <a:defRPr sz="980" b="0">
                <a:solidFill>
                  <a:srgbClr val="0F172A"/>
                </a:solidFill>
                <a:latin typeface="Arial"/>
              </a:defRPr>
            </a:pPr>
            <a:r>
              <a:t>• Models 3-month working capital buffer for raw grain procurement.</a:t>
            </a:r>
          </a:p>
          <a:p>
            <a:pPr>
              <a:defRPr sz="1050" b="1">
                <a:solidFill>
                  <a:srgbClr val="B45309"/>
                </a:solidFill>
                <a:latin typeface="Arial"/>
              </a:defRPr>
            </a:pPr>
            <a:r>
              <a:t>▶ Multi-Enterprise Portfolio Management:</a:t>
            </a:r>
          </a:p>
          <a:p>
            <a:pPr>
              <a:defRPr sz="980" b="0">
                <a:solidFill>
                  <a:srgbClr val="0F172A"/>
                </a:solidFill>
                <a:latin typeface="Arial"/>
              </a:defRPr>
            </a:pPr>
            <a:r>
              <a:t>• Entrepreneur toggles between ventures on Dashboard, Map, Calculator, and Chat.</a:t>
            </a:r>
          </a:p>
          <a:p>
            <a:pPr>
              <a:defRPr sz="980" b="0">
                <a:solidFill>
                  <a:srgbClr val="0F172A"/>
                </a:solidFill>
                <a:latin typeface="Arial"/>
              </a:defRPr>
            </a:pPr>
            <a:r>
              <a:t>• Aggregates combined investment (₹11.20L) and total credit eligibility (₹10.08L).</a:t>
            </a:r>
          </a:p>
          <a:p>
            <a:pPr>
              <a:defRPr sz="1050" b="1">
                <a:solidFill>
                  <a:srgbClr val="064E3B"/>
                </a:solidFill>
                <a:latin typeface="Arial"/>
              </a:defRPr>
            </a:pPr>
            <a:r>
              <a:t>▶ Trilingual Guardrailed Advisory for Bharat:</a:t>
            </a:r>
          </a:p>
          <a:p>
            <a:pPr>
              <a:defRPr sz="980" b="0">
                <a:solidFill>
                  <a:srgbClr val="0F172A"/>
                </a:solidFill>
                <a:latin typeface="Arial"/>
              </a:defRPr>
            </a:pPr>
            <a:r>
              <a:t>• Voice Q&amp;A in Hindi/Gujarati; guardrails reject off-topic coding/trivia queries.</a:t>
            </a:r>
          </a:p>
        </p:txBody>
      </p:sp>
      <p:sp>
        <p:nvSpPr>
          <p:cNvPr id="95" name="Google Shape;95;p3"/>
          <p:cNvSpPr txBox="1"/>
          <p:nvPr/>
        </p:nvSpPr>
        <p:spPr>
          <a:xfrm>
            <a:off x="4663440" y="1280160"/>
            <a:ext cx="38404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177800" lvl="0" marL="17780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endParaRPr b="0" i="0" sz="1500" u="none" cap="none" strike="noStrike">
              <a:solidFill>
                <a:schemeClr val="dk1"/>
              </a:solidFill>
              <a:latin typeface="Franklin Gothic"/>
              <a:ea typeface="Franklin Gothic"/>
              <a:cs typeface="Franklin Gothic"/>
              <a:sym typeface="Franklin Gothic"/>
            </a:endParaRPr>
          </a:p>
          <a:p>
            <a:r>
              <a:rPr sz="1250" b="1">
                <a:solidFill>
                  <a:srgbClr val="1E3A8A"/>
                </a:solidFill>
                <a:latin typeface="Calibri"/>
              </a:rPr>
              <a:t>Describe your Dependencies</a:t>
            </a:r>
          </a:p>
        </p:txBody>
      </p:sp>
      <p:sp>
        <p:nvSpPr>
          <p:cNvPr id="96" name="Google Shape;96;p3"/>
          <p:cNvSpPr txBox="1"/>
          <p:nvPr/>
        </p:nvSpPr>
        <p:spPr>
          <a:xfrm>
            <a:off x="4663440" y="1691640"/>
            <a:ext cx="3840480" cy="3154680"/>
          </a:xfrm>
          <a:prstGeom prst="rect">
            <a:avLst/>
          </a:prstGeom>
          <a:noFill/>
          <a:ln cap="flat" cmpd="sng" w="9525">
            <a:noFill/>
            <a:prstDash val="solid"/>
            <a:round/>
            <a:headEnd len="sm" w="sm" type="none"/>
            <a:tailEnd len="sm" w="sm" type="none"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7620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oto Sans Symbols"/>
              <a:buNone/>
              <a:defRPr sz="1050" b="1">
                <a:solidFill>
                  <a:srgbClr val="064E3B"/>
                </a:solidFill>
                <a:latin typeface="Arial"/>
              </a:defRPr>
            </a:pPr>
            <a:r>
              <a:t>▶ Core Software Frameworks &amp; Runtimes: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>
              <a:defRPr sz="980" b="0">
                <a:solidFill>
                  <a:srgbClr val="0F172A"/>
                </a:solidFill>
                <a:latin typeface="Arial"/>
              </a:defRPr>
            </a:pPr>
            <a:r>
              <a:t>• Node.js 20+ runtime &amp; Next.js 16.3 / React 19 web framework</a:t>
            </a:r>
          </a:p>
          <a:p>
            <a:pPr>
              <a:defRPr sz="980" b="0">
                <a:solidFill>
                  <a:srgbClr val="0F172A"/>
                </a:solidFill>
                <a:latin typeface="Arial"/>
              </a:defRPr>
            </a:pPr>
            <a:r>
              <a:t>• Prisma 5.22 ORM with SQLite relational database</a:t>
            </a:r>
          </a:p>
          <a:p>
            <a:pPr>
              <a:defRPr sz="980" b="0">
                <a:solidFill>
                  <a:srgbClr val="0F172A"/>
                </a:solidFill>
                <a:latin typeface="Arial"/>
              </a:defRPr>
            </a:pPr>
            <a:r>
              <a:t>• Tailwind CSS v4, Lucide React icons, Canvas2D HTML5 API</a:t>
            </a:r>
          </a:p>
          <a:p>
            <a:pPr>
              <a:defRPr sz="1050" b="1">
                <a:solidFill>
                  <a:srgbClr val="064E3B"/>
                </a:solidFill>
                <a:latin typeface="Arial"/>
              </a:defRPr>
            </a:pPr>
            <a:r>
              <a:t>▶ External Services &amp; Web APIs:</a:t>
            </a:r>
          </a:p>
          <a:p>
            <a:pPr>
              <a:defRPr sz="980" b="0">
                <a:solidFill>
                  <a:srgbClr val="0F172A"/>
                </a:solidFill>
                <a:latin typeface="Arial"/>
              </a:defRPr>
            </a:pPr>
            <a:r>
              <a:t>• Google Gemini API (Qualitative advisory &amp; localized SWOT)</a:t>
            </a:r>
          </a:p>
          <a:p>
            <a:pPr>
              <a:defRPr sz="980" b="0">
                <a:solidFill>
                  <a:srgbClr val="0F172A"/>
                </a:solidFill>
                <a:latin typeface="Arial"/>
              </a:defRPr>
            </a:pPr>
            <a:r>
              <a:t>• OpenStreetMap / Carto CDN (Tile layer catchment rendering)</a:t>
            </a:r>
          </a:p>
          <a:p>
            <a:pPr>
              <a:defRPr sz="980" b="0">
                <a:solidFill>
                  <a:srgbClr val="0F172A"/>
                </a:solidFill>
                <a:latin typeface="Arial"/>
              </a:defRPr>
            </a:pPr>
            <a:r>
              <a:t>• Web Speech API (Voice recognition &amp; speech synthesis)</a:t>
            </a:r>
          </a:p>
          <a:p>
            <a:pPr>
              <a:defRPr sz="1050" b="1">
                <a:solidFill>
                  <a:srgbClr val="B45309"/>
                </a:solidFill>
                <a:latin typeface="Arial"/>
              </a:defRPr>
            </a:pPr>
            <a:r>
              <a:t>▶ Cloud Infrastructure &amp; DevOps Tooling:</a:t>
            </a:r>
          </a:p>
          <a:p>
            <a:pPr>
              <a:defRPr sz="980" b="0">
                <a:solidFill>
                  <a:srgbClr val="0F172A"/>
                </a:solidFill>
                <a:latin typeface="Arial"/>
              </a:defRPr>
            </a:pPr>
            <a:r>
              <a:t>• AWS EC2 Ubuntu 24.04 (t3.medium, ap-south-1b) with Elastic IP 13.126.176.46</a:t>
            </a:r>
          </a:p>
          <a:p>
            <a:pPr>
              <a:defRPr sz="980" b="0">
                <a:solidFill>
                  <a:srgbClr val="0F172A"/>
                </a:solidFill>
                <a:latin typeface="Arial"/>
              </a:defRPr>
            </a:pPr>
            <a:r>
              <a:t>• Docker &amp; Docker Compose multi-stage containerization</a:t>
            </a:r>
          </a:p>
          <a:p>
            <a:pPr>
              <a:defRPr sz="980" b="0">
                <a:solidFill>
                  <a:srgbClr val="0F172A"/>
                </a:solidFill>
                <a:latin typeface="Arial"/>
              </a:defRPr>
            </a:pPr>
            <a:r>
              <a:t>• Caddy Web Server (Automated Let's Encrypt TLS issuance)</a:t>
            </a:r>
          </a:p>
          <a:p>
            <a:pPr>
              <a:defRPr sz="980" b="0">
                <a:solidFill>
                  <a:srgbClr val="0F172A"/>
                </a:solidFill>
                <a:latin typeface="Arial"/>
              </a:defRPr>
            </a:pPr>
            <a:r>
              <a:t>• Terraform 1.5+ for declarative cloud provisioning</a:t>
            </a:r>
          </a:p>
        </p:txBody>
      </p:sp>
      <p:sp>
        <p:nvSpPr>
          <p:cNvPr id="97" name="Google Shape;97;p3"/>
          <p:cNvSpPr/>
          <p:nvPr/>
        </p:nvSpPr>
        <p:spPr>
          <a:xfrm>
            <a:off x="1458310" y="-144205"/>
            <a:ext cx="9144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3"/>
          <p:cNvSpPr/>
          <p:nvPr/>
        </p:nvSpPr>
        <p:spPr>
          <a:xfrm>
            <a:off x="1458310" y="198695"/>
            <a:ext cx="9144000" cy="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9" name="Google Shape;99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1065" y="111322"/>
            <a:ext cx="1224684" cy="1049666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90159" y="27245"/>
            <a:ext cx="1312470" cy="117443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4"/>
          <p:cNvSpPr txBox="1"/>
          <p:nvPr>
            <p:ph type="title"/>
          </p:nvPr>
        </p:nvSpPr>
        <p:spPr>
          <a:xfrm>
            <a:off x="629841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b="1" lang="en-GB" sz="3000">
                <a:solidFill>
                  <a:schemeClr val="dk1"/>
                </a:solidFill>
              </a:rPr>
              <a:t>Idea/Approach Details</a:t>
            </a:r>
            <a:endParaRPr b="1" sz="3000">
              <a:solidFill>
                <a:schemeClr val="dk1"/>
              </a:solidFill>
            </a:endParaRPr>
          </a:p>
        </p:txBody>
      </p:sp>
      <p:sp>
        <p:nvSpPr>
          <p:cNvPr id="106" name="Google Shape;106;p4"/>
          <p:cNvSpPr txBox="1"/>
          <p:nvPr>
            <p:ph idx="1" type="body"/>
          </p:nvPr>
        </p:nvSpPr>
        <p:spPr>
          <a:xfrm>
            <a:off x="640080" y="1280160"/>
            <a:ext cx="38404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800"/>
              <a:buNone/>
            </a:pPr>
            <a:endParaRPr b="0" sz="1500">
              <a:solidFill>
                <a:schemeClr val="dk1"/>
              </a:solidFill>
              <a:latin typeface="Franklin Gothic"/>
              <a:ea typeface="Franklin Gothic"/>
              <a:cs typeface="Franklin Gothic"/>
              <a:sym typeface="Franklin Gothic"/>
            </a:endParaRPr>
          </a:p>
          <a:p>
            <a:r>
              <a:rPr sz="1250" b="1">
                <a:solidFill>
                  <a:srgbClr val="1E3A8A"/>
                </a:solidFill>
                <a:latin typeface="Calibri"/>
              </a:rPr>
              <a:t>Uniqueness of your Idea</a:t>
            </a:r>
          </a:p>
        </p:txBody>
      </p:sp>
      <p:sp>
        <p:nvSpPr>
          <p:cNvPr id="109" name="Google Shape;109;p4"/>
          <p:cNvSpPr txBox="1"/>
          <p:nvPr>
            <p:ph idx="4" type="body"/>
          </p:nvPr>
        </p:nvSpPr>
        <p:spPr>
          <a:xfrm>
            <a:off x="4629150" y="1878806"/>
            <a:ext cx="3887400" cy="2763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pic>
        <p:nvPicPr>
          <p:cNvPr id="110" name="Google Shape;110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1065" y="111322"/>
            <a:ext cx="1224684" cy="104966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1" name="Google Shape;111;p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90159" y="27245"/>
            <a:ext cx="1312470" cy="1174433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TextBox 111"/>
          <p:cNvSpPr txBox="1"/>
          <p:nvPr/>
        </p:nvSpPr>
        <p:spPr>
          <a:xfrm>
            <a:off x="640080" y="1691640"/>
            <a:ext cx="3840480" cy="3154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80" b="0">
                <a:solidFill>
                  <a:srgbClr val="0F172A"/>
                </a:solidFill>
                <a:latin typeface="Arial"/>
              </a:defRPr>
            </a:pPr>
            <a:r>
              <a:t>• Decoupled Deterministic Financial Engine: Unlike naive LLM wrappers that hallucinate loan math, debt sizing and moratorium schedules are computed using 100% verified statutory formulas.</a:t>
            </a:r>
          </a:p>
          <a:p>
            <a:pPr>
              <a:defRPr sz="980" b="0">
                <a:solidFill>
                  <a:srgbClr val="0F172A"/>
                </a:solidFill>
                <a:latin typeface="Arial"/>
              </a:defRPr>
            </a:pPr>
            <a:r>
              <a:t>• Automated Statutory Scheme Routing: Intelligently routes projects &lt;= ₹1.40L to Micro Finance (6.5% p.a., 3-mo grace) and projects &gt; ₹1.40L to Term Loan (8.0% p.a., 6-mo grace).</a:t>
            </a:r>
          </a:p>
          <a:p>
            <a:pPr>
              <a:defRPr sz="980" b="0">
                <a:solidFill>
                  <a:srgbClr val="0F172A"/>
                </a:solidFill>
                <a:latin typeface="Arial"/>
              </a:defRPr>
            </a:pPr>
            <a:r>
              <a:t>• Hyper-Local Concentric Catchment (5 &amp; 10 km): Granular spatial demographic density, trade-adaptive POIs, and competitor density.</a:t>
            </a:r>
          </a:p>
          <a:p>
            <a:pPr>
              <a:defRPr sz="980" b="0">
                <a:solidFill>
                  <a:srgbClr val="0F172A"/>
                </a:solidFill>
                <a:latin typeface="Arial"/>
              </a:defRPr>
            </a:pPr>
            <a:r>
              <a:t>• Multi-Enterprise Portfolio Engine: Solves real-world multi-business management with persistent Dossier IDs and reactive cross-app switching.</a:t>
            </a:r>
          </a:p>
          <a:p>
            <a:pPr>
              <a:defRPr sz="980" b="0">
                <a:solidFill>
                  <a:srgbClr val="0F172A"/>
                </a:solidFill>
                <a:latin typeface="Arial"/>
              </a:defRPr>
            </a:pPr>
            <a:r>
              <a:t>• 1-Click Zero-Crash PDF Export: Proprietary Canvas2D color proxy converts modern lab/oklch color spaces, downloading clean PDFs in &lt;1.5s with zero print dialogs.</a:t>
            </a:r>
          </a:p>
          <a:p>
            <a:pPr>
              <a:defRPr sz="980" b="0">
                <a:solidFill>
                  <a:srgbClr val="0F172A"/>
                </a:solidFill>
                <a:latin typeface="Arial"/>
              </a:defRPr>
            </a:pPr>
            <a:r>
              <a:t>• Trilingual Accessibility with Guardrails: Native English, Hindi, and Gujarati with strict semantic guardrails preventing off-topic abuse.</a:t>
            </a:r>
          </a:p>
          <a:p>
            <a:pPr>
              <a:defRPr sz="980" b="0">
                <a:solidFill>
                  <a:srgbClr val="0F172A"/>
                </a:solidFill>
                <a:latin typeface="Arial"/>
              </a:defRPr>
            </a:pPr>
            <a:r>
              <a:t>• Dual-Cloud Production Resilience: Live on both AWS EC2 (Docker + Caddy) and Vercel Edge.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663440" y="1691640"/>
            <a:ext cx="3840480" cy="3154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64E3B"/>
                </a:solidFill>
                <a:latin typeface="Arial"/>
              </a:defRPr>
            </a:pPr>
            <a:r>
              <a:t>▶ Measurable Socio-Economic Impact:</a:t>
            </a:r>
          </a:p>
          <a:p>
            <a:pPr>
              <a:defRPr sz="980" b="0">
                <a:solidFill>
                  <a:srgbClr val="0F172A"/>
                </a:solidFill>
                <a:latin typeface="Arial"/>
              </a:defRPr>
            </a:pPr>
            <a:r>
              <a:t>• Reduces 40%+ early enterprise mortality by replacing hearsay with data-driven demand validation.</a:t>
            </a:r>
          </a:p>
          <a:p>
            <a:pPr>
              <a:defRPr sz="980" b="0">
                <a:solidFill>
                  <a:srgbClr val="0F172A"/>
                </a:solidFill>
                <a:latin typeface="Arial"/>
              </a:defRPr>
            </a:pPr>
            <a:r>
              <a:t>• Cuts bank appraisal preparation time from 4–6 weeks to under 90 seconds.</a:t>
            </a:r>
          </a:p>
          <a:p>
            <a:pPr>
              <a:defRPr sz="980" b="0">
                <a:solidFill>
                  <a:srgbClr val="0F172A"/>
                </a:solidFill>
                <a:latin typeface="Arial"/>
              </a:defRPr>
            </a:pPr>
            <a:r>
              <a:t>• Unlocks statutory concessional debt for marginalized rural founders, replacing predatory moneylenders (24%–36% interest).</a:t>
            </a:r>
          </a:p>
          <a:p>
            <a:pPr>
              <a:defRPr sz="1050" b="1">
                <a:solidFill>
                  <a:srgbClr val="B45309"/>
                </a:solidFill>
                <a:latin typeface="Arial"/>
              </a:defRPr>
            </a:pPr>
            <a:r>
              <a:t>▶ Future Engineering Scope &amp; Roadmap:</a:t>
            </a:r>
          </a:p>
          <a:p>
            <a:pPr>
              <a:defRPr sz="980" b="0">
                <a:solidFill>
                  <a:srgbClr val="0F172A"/>
                </a:solidFill>
                <a:latin typeface="Arial"/>
              </a:defRPr>
            </a:pPr>
            <a:r>
              <a:t>• SCA &amp; JanSamarth Portal API: Direct automated loan application dispatch to State Channelizing Agencies and RRBs.</a:t>
            </a:r>
          </a:p>
          <a:p>
            <a:pPr>
              <a:defRPr sz="980" b="0">
                <a:solidFill>
                  <a:srgbClr val="0F172A"/>
                </a:solidFill>
                <a:latin typeface="Arial"/>
              </a:defRPr>
            </a:pPr>
            <a:r>
              <a:t>• Live Mandi &amp; APMC Feeds: Real-time price tracking via e-NAM APIs for hyper-local commodity arbitrage.</a:t>
            </a:r>
          </a:p>
          <a:p>
            <a:pPr>
              <a:defRPr sz="980" b="0">
                <a:solidFill>
                  <a:srgbClr val="0F172A"/>
                </a:solidFill>
                <a:latin typeface="Arial"/>
              </a:defRPr>
            </a:pPr>
            <a:r>
              <a:t>• Offline Edge AI: Local on-device LLM execution (Gemma 2B / WebLLM) for zero-connectivity deep rural operation.</a:t>
            </a:r>
          </a:p>
          <a:p>
            <a:pPr>
              <a:defRPr sz="980" b="0">
                <a:solidFill>
                  <a:srgbClr val="0F172A"/>
                </a:solidFill>
                <a:latin typeface="Arial"/>
              </a:defRPr>
            </a:pPr>
            <a:r>
              <a:t>• SHG &amp; Cooperative Multi-Tenant Mode: Sizing pooled capital for Self-Help Groups and Women Milk Societies.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b="1" lang="en-GB" sz="3000">
                <a:solidFill>
                  <a:schemeClr val="dk1"/>
                </a:solidFill>
              </a:rPr>
              <a:t>Architecture Diagram</a:t>
            </a:r>
            <a:endParaRPr b="1" sz="3000">
              <a:solidFill>
                <a:schemeClr val="dk1"/>
              </a:solidFill>
            </a:endParaRPr>
          </a:p>
        </p:txBody>
      </p:sp>
      <p:sp>
        <p:nvSpPr>
          <p:cNvPr id="117" name="Google Shape;117;p5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sz="1500">
              <a:latin typeface="Franklin Gothic"/>
              <a:ea typeface="Franklin Gothic"/>
              <a:cs typeface="Franklin Gothic"/>
              <a:sym typeface="Franklin Gothic"/>
            </a:endParaRPr>
          </a:p>
        </p:txBody>
      </p:sp>
      <p:pic>
        <p:nvPicPr>
          <p:cNvPr id="118" name="Google Shape;118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1065" y="111322"/>
            <a:ext cx="1224684" cy="104966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9" name="Google Shape;119;p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90159" y="27245"/>
            <a:ext cx="1312470" cy="1174433"/>
          </a:xfrm>
          <a:prstGeom prst="rect">
            <a:avLst/>
          </a:prstGeom>
          <a:noFill/>
          <a:ln>
            <a:noFill/>
          </a:ln>
        </p:spPr>
      </p:pic>
      <p:pic>
        <p:nvPicPr>
          <p:cNvPr id="120" name="Picture 119" descr="architecture_diagram_clea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4360" y="1234440"/>
            <a:ext cx="7955279" cy="36118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1065" y="111322"/>
            <a:ext cx="1224684" cy="1049666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90159" y="27245"/>
            <a:ext cx="1312470" cy="1174433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6"/>
          <p:cNvSpPr txBox="1"/>
          <p:nvPr>
            <p:ph type="title"/>
          </p:nvPr>
        </p:nvSpPr>
        <p:spPr>
          <a:xfrm>
            <a:off x="341371" y="215255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20000"/>
              <a:buNone/>
            </a:pPr>
            <a:endParaRPr sz="1800"/>
          </a:p>
          <a:p>
            <a:r>
              <a:rPr sz="2800" b="1">
                <a:solidFill>
                  <a:srgbClr val="0F172A"/>
                </a:solidFill>
                <a:latin typeface="Calibri"/>
              </a:rPr>
              <a:t>Additional Details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40080" y="1280160"/>
            <a:ext cx="3840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4E3B"/>
                </a:solidFill>
                <a:latin typeface="Arial"/>
              </a:defRPr>
            </a:pPr>
            <a:r>
              <a:t>1. Live Prototype &amp; Verification Highlights</a:t>
            </a:r>
          </a:p>
          <a:p>
            <a:pPr>
              <a:defRPr sz="980" b="0">
                <a:solidFill>
                  <a:srgbClr val="0F172A"/>
                </a:solidFill>
                <a:latin typeface="Arial"/>
              </a:defRPr>
            </a:pPr>
            <a:r>
              <a:t>• Dual-Cloud Production Endpoints: Live and verified with HTTP/2 200 OK on AWS EC2 (https://gramsaarthi-ai.chiragvasava.me) and Vercel Edge (https://gramsaarthi.chiragvasava.me).</a:t>
            </a:r>
          </a:p>
          <a:p>
            <a:pPr>
              <a:defRPr sz="980" b="0">
                <a:solidFill>
                  <a:srgbClr val="0F172A"/>
                </a:solidFill>
                <a:latin typeface="Arial"/>
              </a:defRPr>
            </a:pPr>
            <a:r>
              <a:t>• 1-Click Demo Evaluation Mode: Pre-configured credentials (demo@gramsaarthi.ai / demo123) allow evaluators to test all features instantly without registration friction.</a:t>
            </a:r>
          </a:p>
          <a:p>
            <a:pPr>
              <a:defRPr sz="980" b="0">
                <a:solidFill>
                  <a:srgbClr val="0F172A"/>
                </a:solidFill>
                <a:latin typeface="Arial"/>
              </a:defRPr>
            </a:pPr>
            <a:r>
              <a:t>• Tested &amp; Working End-to-End: Every single user journey—Registration -&gt; Intake Wizard -&gt; Radial Map -&gt; Concessional Calculator -&gt; Trilingual Chat -&gt; Feasibility Report -&gt; Saved Portfolio—empirically verified.</a:t>
            </a:r>
          </a:p>
          <a:p>
            <a:pPr>
              <a:defRPr sz="980" b="0">
                <a:solidFill>
                  <a:srgbClr val="0F172A"/>
                </a:solidFill>
                <a:latin typeface="Arial"/>
              </a:defRPr>
            </a:pPr>
            <a:r>
              <a:t>• Zero Hardcoded Data: Live computeDynamicScore algorithm calculates real-time feasibility and debt structuring dynamically.</a:t>
            </a:r>
          </a:p>
          <a:p>
            <a:pPr>
              <a:defRPr sz="980" b="0">
                <a:solidFill>
                  <a:srgbClr val="0F172A"/>
                </a:solidFill>
                <a:latin typeface="Arial"/>
              </a:defRPr>
            </a:pPr>
            <a:r>
              <a:t>• 1-Click PDF Generation: Instant client-side download in &lt;1.5s via Canvas2D color proxy.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663440" y="1280160"/>
            <a:ext cx="3840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4E3B"/>
                </a:solidFill>
                <a:latin typeface="Arial"/>
              </a:defRPr>
            </a:pPr>
            <a:r>
              <a:t>2. Alignment with P11 Problem Statement &amp; Screening</a:t>
            </a:r>
          </a:p>
          <a:p>
            <a:pPr>
              <a:defRPr sz="980" b="0">
                <a:solidFill>
                  <a:srgbClr val="0F172A"/>
                </a:solidFill>
                <a:latin typeface="Arial"/>
              </a:defRPr>
            </a:pPr>
            <a:r>
              <a:t>• Strict Problem Statement Alignment: Directly solves P11 requirements: hyper-local business feasibility, statutory financial structuring, rural language accessibility, and bankable reporting.</a:t>
            </a:r>
          </a:p>
          <a:p>
            <a:pPr>
              <a:defRPr sz="980" b="0">
                <a:solidFill>
                  <a:srgbClr val="0F172A"/>
                </a:solidFill>
                <a:latin typeface="Arial"/>
              </a:defRPr>
            </a:pPr>
            <a:r>
              <a:t>• Mathematical Auditability: Zero floating-point inaccuracies or LLM hallucinated debt figures; statutory credit guidelines strictly respected.</a:t>
            </a:r>
          </a:p>
          <a:p>
            <a:pPr>
              <a:defRPr sz="980" b="0">
                <a:solidFill>
                  <a:srgbClr val="0F172A"/>
                </a:solidFill>
                <a:latin typeface="Arial"/>
              </a:defRPr>
            </a:pPr>
            <a:r>
              <a:t>• Complete Documentation Suite: Comprehensive documentation indexed in MD_Files/ (ARCHITECTURE.md, FEATURES.md, MANUAL_TEST_REPORT.md, DEMO_SCRIPT.md, TERRAFORM.md, DEPLOYMENT_CASE_STUDY.md).</a:t>
            </a:r>
          </a:p>
          <a:p>
            <a:pPr>
              <a:defRPr sz="980" b="0">
                <a:solidFill>
                  <a:srgbClr val="0F172A"/>
                </a:solidFill>
                <a:latin typeface="Arial"/>
              </a:defRPr>
            </a:pPr>
            <a:r>
              <a:t>• Clean Public Codebase: Hosted on GitHub (https://github.com/ChiragVasava/gramsaarthi-ai) with clean commit history, Dockerfiles, and Terraform IaC.</a:t>
            </a:r>
          </a:p>
          <a:p>
            <a:pPr>
              <a:defRPr sz="980" b="0">
                <a:solidFill>
                  <a:srgbClr val="0F172A"/>
                </a:solidFill>
                <a:latin typeface="Arial"/>
              </a:defRPr>
            </a:pPr>
            <a:r>
              <a:t>• Demonstration Video Ready: Rehearsed 3-minute video recording script prepared in MD_Files/DEMO_SCRIPT.md covering the complete walkthrough.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/>
</file>